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hw.gov.au/getmedia/a14c3205-784c-4d81-ab49-a33ed4d3d813/aihw-phe-276.pdf.aspx?inline=tru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RbFjz4hWM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sty.art.pl/m12/climatophosis2_0/climatophosis2.html" TargetMode="External"/><Relationship Id="rId2" Type="http://schemas.openxmlformats.org/officeDocument/2006/relationships/hyperlink" Target="https://projects.cah.ucf.edu/mediaartsexhibits/ClimatesOfChange/Waliya/climatophosis.html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s.cah.ucf.edu/mediaartsexhibits/ClimatesOfChange/index.html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2857" y="574766"/>
            <a:ext cx="7641146" cy="2442754"/>
          </a:xfrm>
        </p:spPr>
        <p:txBody>
          <a:bodyPr/>
          <a:lstStyle/>
          <a:p>
            <a:pPr algn="just"/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Slides </a:t>
            </a:r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Linguistic Lightening, Bangor University, Wales.</a:t>
            </a:r>
            <a:endParaRPr lang="en-US" sz="4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010333"/>
          </a:xfrm>
        </p:spPr>
        <p:txBody>
          <a:bodyPr>
            <a:noAutofit/>
          </a:bodyPr>
          <a:lstStyle/>
          <a:p>
            <a:pPr algn="just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Reading and interpreting environmental Digital Literature: A case study of </a:t>
            </a:r>
            <a:r>
              <a:rPr lang="en-US" sz="32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Climatophosis</a:t>
            </a:r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Prosthetics for a  changing climate. 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07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7696" y="1854926"/>
            <a:ext cx="7819813" cy="2899954"/>
          </a:xfrm>
        </p:spPr>
        <p:txBody>
          <a:bodyPr/>
          <a:lstStyle/>
          <a:p>
            <a:pPr algn="just"/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Ugwumgbo </a:t>
            </a:r>
            <a:r>
              <a:rPr lang="en-US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Emeka</a:t>
            </a:r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Augustine</a:t>
            </a:r>
            <a:b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From: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 department of Language Technologies, Bangor </a:t>
            </a:r>
            <a:r>
              <a:rPr lang="en-US" sz="32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Wales. 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/>
            </a:r>
            <a:b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53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7131"/>
          </a:xfrm>
        </p:spPr>
        <p:txBody>
          <a:bodyPr/>
          <a:lstStyle/>
          <a:p>
            <a:r>
              <a:rPr lang="en-US" dirty="0"/>
              <a:t>Introduction: Why Eco-Digital Literature?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8871615" cy="3880773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Crises: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keep treating the environmental crisis as an afterthought. Society itself must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change.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Almost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five species in Wales is now heading toward extinction;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40% of water bodies achieve good or high status;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Wales is consuming natural resources at a rate the planet cannot sustain.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(Neil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Sachdev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first 100 days as Chair of Natural Resources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Wales).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72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774" y="475480"/>
            <a:ext cx="8596668" cy="3038429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Nigeria; Desertification, and Flooding etc. Australia; (2019-20)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bushfires ~3 billion animals killed, 33 lives lost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Australian Institute of Health and Welfare (2020).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Australian bushfires 2019–20: Exploring the short-term health impacts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aihw-phe-276.pdf.aspx</a:t>
            </a:r>
            <a:r>
              <a:rPr lang="en-US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digital response: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Climatophosis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 by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Joseph (2020)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"Prosthetics for a Changing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Climate” by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Alinta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Krauth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(2020) </a:t>
            </a:r>
          </a:p>
        </p:txBody>
      </p:sp>
    </p:spTree>
    <p:extLst>
      <p:ext uri="{BB962C8B-B14F-4D97-AF65-F5344CB8AC3E}">
        <p14:creationId xmlns:p14="http://schemas.microsoft.com/office/powerpoint/2010/main" val="406229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we read and interpret literature that is: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Digitally born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Multimodal (text + images + sound + interaction)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Environmentally focused?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5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Eco-Digital Literature?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Eco-digital literature (Ugwumgbo, 2022): Electronic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with ecological issues as content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concern.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includes: “Works with important literary aspects that take advantage of the capabilities and contexts provided by the stand-alone or networked computer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(Electronic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Organization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cited in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Simanowski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2011, p.27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1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Key Features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Digitally born (not just print converted to digital)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Multimodal (combines text, images, sound, movement)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Interactive (reader participates)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Environmentally themed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756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Poems Under Study: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198186" cy="4174897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Climatophosis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Waliya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Joseph (Nigeria),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agency in climate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Prosthetics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Changing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Climate: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Alinta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Krauth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Australia):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heme: Animal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during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bushfires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4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Theoretical </a:t>
            </a:r>
            <a:r>
              <a:rPr lang="en-US" dirty="0" smtClean="0"/>
              <a:t>Framework:</a:t>
            </a:r>
            <a:r>
              <a:rPr lang="en-US" dirty="0"/>
              <a:t> </a:t>
            </a:r>
            <a:r>
              <a:rPr lang="en-US" dirty="0" smtClean="0"/>
              <a:t>How to </a:t>
            </a:r>
            <a:r>
              <a:rPr lang="en-US" dirty="0"/>
              <a:t>Analyze Eco-Digital </a:t>
            </a:r>
            <a:r>
              <a:rPr lang="en-US" dirty="0" smtClean="0"/>
              <a:t>Texts.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Ideational meta-function (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Hallyday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2014), How language expresses (environmental) ideas.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Eco-lexicon: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Rizqan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(2019),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Baayen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2016): Classify and quantify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ecological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vocabulary: Biotic, fauna (animals) and flora (trees), Abiotic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mountains, road etc.</a:t>
            </a:r>
          </a:p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Entax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Theory, Di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Rosario (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2011), Analyze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affordances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02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Entax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Domains: (Greek)EN-in, into, tax-arrange, arrangement: The syntax of electronic space.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774" y="3074989"/>
            <a:ext cx="9746826" cy="3534817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Micro-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entax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word-level (morphology): fonts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colors,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movements, internal arrangement of words.</a:t>
            </a: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Meso-entax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semantics-lexeme: image-with-words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graphic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structure;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for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instance recreating an image with words as with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calligrams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or reproducing a movement with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word (</a:t>
            </a:r>
            <a:r>
              <a:rPr lang="en-US" sz="28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TheChild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– Alex Gopher 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hlinkClick r:id="rId2"/>
              </a:rPr>
              <a:t>https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hlinkClick r:id="rId2"/>
              </a:rPr>
              <a:t>://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hlinkClick r:id="rId2"/>
              </a:rPr>
              <a:t>www.youtube.com/watch?v=URbFjz4hWMY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Macro-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entax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Sentence- Pragmatic level: The whole-document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relates to the graphic and visual structure of the whole document, it deals with the sentence in its context – wherein a second meaning is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suggested.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2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1 - Ecological Lexicons in "</a:t>
            </a:r>
            <a:r>
              <a:rPr lang="en-US" dirty="0" err="1"/>
              <a:t>Climatophosis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Words </a:t>
            </a:r>
            <a:r>
              <a:rPr lang="en-US" dirty="0" smtClean="0"/>
              <a:t>Reveal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| </a:t>
            </a:r>
            <a:r>
              <a:rPr lang="en-US" dirty="0" smtClean="0"/>
              <a:t>Category                | Examples </a:t>
            </a:r>
            <a:r>
              <a:rPr lang="en-US" dirty="0"/>
              <a:t>| </a:t>
            </a:r>
            <a:r>
              <a:rPr lang="en-US" dirty="0" smtClean="0"/>
              <a:t>    Frequency|</a:t>
            </a:r>
            <a:endParaRPr lang="en-US" dirty="0"/>
          </a:p>
          <a:p>
            <a:r>
              <a:rPr lang="en-US" dirty="0" smtClean="0"/>
              <a:t>|--------------             |--------------|---------------|</a:t>
            </a:r>
            <a:endParaRPr lang="en-US" dirty="0"/>
          </a:p>
          <a:p>
            <a:r>
              <a:rPr lang="en-US" dirty="0"/>
              <a:t>| </a:t>
            </a:r>
            <a:r>
              <a:rPr lang="en-US" dirty="0" smtClean="0"/>
              <a:t>Humanity               | </a:t>
            </a:r>
            <a:r>
              <a:rPr lang="en-US" dirty="0"/>
              <a:t>People, humanity | </a:t>
            </a:r>
            <a:r>
              <a:rPr lang="en-US" dirty="0" smtClean="0"/>
              <a:t>50% </a:t>
            </a:r>
            <a:r>
              <a:rPr lang="en-US" dirty="0"/>
              <a:t>|</a:t>
            </a:r>
          </a:p>
          <a:p>
            <a:r>
              <a:rPr lang="en-US" dirty="0"/>
              <a:t>| </a:t>
            </a:r>
            <a:r>
              <a:rPr lang="en-US" dirty="0" smtClean="0"/>
              <a:t>General Referents  | </a:t>
            </a:r>
            <a:r>
              <a:rPr lang="en-US" dirty="0"/>
              <a:t>Living things </a:t>
            </a:r>
            <a:r>
              <a:rPr lang="en-US" dirty="0" smtClean="0"/>
              <a:t>        | </a:t>
            </a:r>
            <a:r>
              <a:rPr lang="en-US" dirty="0"/>
              <a:t>33% |</a:t>
            </a:r>
          </a:p>
          <a:p>
            <a:r>
              <a:rPr lang="en-US" dirty="0"/>
              <a:t>| </a:t>
            </a:r>
            <a:r>
              <a:rPr lang="en-US" dirty="0" smtClean="0"/>
              <a:t>Flora                      |Trees                     | </a:t>
            </a:r>
            <a:r>
              <a:rPr lang="en-US" dirty="0"/>
              <a:t>17% |</a:t>
            </a:r>
          </a:p>
        </p:txBody>
      </p:sp>
    </p:spTree>
    <p:extLst>
      <p:ext uri="{BB962C8B-B14F-4D97-AF65-F5344CB8AC3E}">
        <p14:creationId xmlns:p14="http://schemas.microsoft.com/office/powerpoint/2010/main" val="2678437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346601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Key </a:t>
            </a:r>
            <a:r>
              <a:rPr lang="en-US" dirty="0">
                <a:solidFill>
                  <a:schemeClr val="tx1"/>
                </a:solidFill>
              </a:rPr>
              <a:t>Insight</a:t>
            </a:r>
            <a:r>
              <a:rPr lang="en-US" dirty="0" smtClean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Humanity has the highest frequency—the poem </a:t>
            </a:r>
            <a:r>
              <a:rPr lang="en-US" dirty="0" smtClean="0">
                <a:solidFill>
                  <a:schemeClr val="tx1"/>
                </a:solidFill>
              </a:rPr>
              <a:t>blames humans </a:t>
            </a:r>
            <a:r>
              <a:rPr lang="en-US" dirty="0">
                <a:solidFill>
                  <a:schemeClr val="tx1"/>
                </a:solidFill>
              </a:rPr>
              <a:t>for climate </a:t>
            </a:r>
            <a:r>
              <a:rPr lang="en-US" dirty="0" smtClean="0">
                <a:solidFill>
                  <a:schemeClr val="tx1"/>
                </a:solidFill>
              </a:rPr>
              <a:t>change: Personification of nature.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50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Finding 2 - Ecological Lexicons in "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Prosthetics for a changing climate"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Australian-Specific Vocabulary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Biotic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Fauna (Animals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Category        | %          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Examples                                          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|-------------     -|-------      |--------------                                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Marsupials    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44%       |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Joey, Koala, Possum, Wallabies 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General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|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28%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|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Skin, Baby,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Body                      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US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Monotremes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16%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|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Echidna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Others 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|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4% each | Student (primate), </a:t>
            </a:r>
            <a:r>
              <a:rPr lang="en-US" sz="1400" dirty="0" err="1" smtClean="0"/>
              <a:t>Equidae</a:t>
            </a:r>
            <a:r>
              <a:rPr lang="en-US" sz="1400" dirty="0" smtClean="0"/>
              <a:t> (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Horses), </a:t>
            </a:r>
            <a:r>
              <a:rPr lang="en-US" sz="1400" dirty="0" err="1" smtClean="0"/>
              <a:t>Leporidae</a:t>
            </a:r>
            <a:r>
              <a:rPr lang="en-US" sz="1400" dirty="0" smtClean="0"/>
              <a:t> (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rabbits)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52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149531"/>
            <a:ext cx="8686173" cy="4891831"/>
          </a:xfrm>
        </p:spPr>
        <p:txBody>
          <a:bodyPr/>
          <a:lstStyle/>
          <a:p>
            <a:r>
              <a:rPr lang="en-US" dirty="0" smtClean="0"/>
              <a:t>Biotic </a:t>
            </a:r>
            <a:r>
              <a:rPr lang="en-US" dirty="0"/>
              <a:t>Flora (Plants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| </a:t>
            </a:r>
            <a:r>
              <a:rPr lang="en-US" dirty="0" smtClean="0"/>
              <a:t>Category   | %        | Key Example   |</a:t>
            </a:r>
            <a:endParaRPr lang="en-US" dirty="0"/>
          </a:p>
          <a:p>
            <a:r>
              <a:rPr lang="en-US" dirty="0" smtClean="0"/>
              <a:t>|--------------|-------    |-----------------|</a:t>
            </a:r>
            <a:endParaRPr lang="en-US" dirty="0"/>
          </a:p>
          <a:p>
            <a:r>
              <a:rPr lang="en-US" dirty="0"/>
              <a:t>| </a:t>
            </a:r>
            <a:r>
              <a:rPr lang="en-US" dirty="0" smtClean="0"/>
              <a:t>Trees         | 80%      | Eucalypts(Australian </a:t>
            </a:r>
            <a:r>
              <a:rPr lang="en-US" dirty="0"/>
              <a:t>native) |</a:t>
            </a:r>
          </a:p>
          <a:p>
            <a:r>
              <a:rPr lang="en-US" dirty="0"/>
              <a:t>| Grass </a:t>
            </a:r>
            <a:r>
              <a:rPr lang="en-US" dirty="0" smtClean="0"/>
              <a:t>       | </a:t>
            </a:r>
            <a:r>
              <a:rPr lang="en-US" dirty="0"/>
              <a:t>20% </a:t>
            </a:r>
            <a:r>
              <a:rPr lang="en-US" dirty="0" smtClean="0"/>
              <a:t>     | </a:t>
            </a:r>
            <a:r>
              <a:rPr lang="en-US" dirty="0"/>
              <a:t>Open grass plains |</a:t>
            </a:r>
          </a:p>
          <a:p>
            <a:r>
              <a:rPr lang="en-US" dirty="0"/>
              <a:t> </a:t>
            </a:r>
          </a:p>
          <a:p>
            <a:r>
              <a:rPr lang="en-US" dirty="0" smtClean="0"/>
              <a:t>Key </a:t>
            </a:r>
            <a:r>
              <a:rPr lang="en-US" dirty="0" err="1" smtClean="0"/>
              <a:t>Insight:The</a:t>
            </a:r>
            <a:r>
              <a:rPr lang="en-US" dirty="0" smtClean="0"/>
              <a:t> </a:t>
            </a:r>
            <a:r>
              <a:rPr lang="en-US" dirty="0"/>
              <a:t>poem is </a:t>
            </a:r>
            <a:r>
              <a:rPr lang="en-US" dirty="0" smtClean="0"/>
              <a:t>distinctly Australian—setting </a:t>
            </a:r>
            <a:r>
              <a:rPr lang="en-US" dirty="0"/>
              <a:t>and theme</a:t>
            </a:r>
          </a:p>
        </p:txBody>
      </p:sp>
    </p:spTree>
    <p:extLst>
      <p:ext uri="{BB962C8B-B14F-4D97-AF65-F5344CB8AC3E}">
        <p14:creationId xmlns:p14="http://schemas.microsoft.com/office/powerpoint/2010/main" val="300984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3 - Abiotic Lexicons (Both Poems)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Non-Living </a:t>
            </a:r>
            <a:r>
              <a:rPr lang="en-US" dirty="0"/>
              <a:t>Environmental </a:t>
            </a:r>
            <a:r>
              <a:rPr lang="en-US" dirty="0" smtClean="0"/>
              <a:t>References</a:t>
            </a:r>
            <a:endParaRPr lang="en-US" dirty="0"/>
          </a:p>
          <a:p>
            <a:r>
              <a:rPr lang="en-US" dirty="0" smtClean="0"/>
              <a:t>“</a:t>
            </a:r>
            <a:r>
              <a:rPr lang="en-US" dirty="0" err="1" smtClean="0"/>
              <a:t>Climatophosis</a:t>
            </a:r>
            <a:r>
              <a:rPr lang="en-US" dirty="0" smtClean="0"/>
              <a:t>"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| Category </a:t>
            </a:r>
            <a:r>
              <a:rPr lang="en-US" dirty="0" smtClean="0"/>
              <a:t>              | %      | Meaning       </a:t>
            </a:r>
            <a:r>
              <a:rPr lang="en-US" dirty="0"/>
              <a:t>|</a:t>
            </a:r>
          </a:p>
          <a:p>
            <a:r>
              <a:rPr lang="en-US" dirty="0" smtClean="0"/>
              <a:t>|--------------            |-------|-------------    |</a:t>
            </a:r>
            <a:endParaRPr lang="en-US" dirty="0"/>
          </a:p>
          <a:p>
            <a:r>
              <a:rPr lang="en-US" dirty="0"/>
              <a:t>| Events/Concepts </a:t>
            </a:r>
            <a:r>
              <a:rPr lang="en-US" dirty="0" smtClean="0"/>
              <a:t>   | 40% </a:t>
            </a:r>
            <a:r>
              <a:rPr lang="en-US" dirty="0"/>
              <a:t>| Describes crises |</a:t>
            </a:r>
          </a:p>
          <a:p>
            <a:r>
              <a:rPr lang="en-US" dirty="0"/>
              <a:t>| Plasma/Solar | 20% | Sun, Earth |</a:t>
            </a:r>
          </a:p>
          <a:p>
            <a:r>
              <a:rPr lang="en-US" dirty="0"/>
              <a:t>| Liquid/solid | 13% | Sea, Glacier |</a:t>
            </a:r>
          </a:p>
        </p:txBody>
      </p:sp>
    </p:spTree>
    <p:extLst>
      <p:ext uri="{BB962C8B-B14F-4D97-AF65-F5344CB8AC3E}">
        <p14:creationId xmlns:p14="http://schemas.microsoft.com/office/powerpoint/2010/main" val="264032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"</a:t>
            </a:r>
            <a:r>
              <a:rPr lang="en-US" dirty="0"/>
              <a:t>Prosthetics</a:t>
            </a:r>
            <a:r>
              <a:rPr lang="en-US" dirty="0" smtClean="0"/>
              <a:t>"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| </a:t>
            </a:r>
            <a:r>
              <a:rPr lang="en-US" dirty="0" smtClean="0"/>
              <a:t>Category                     | %      | Meaning </a:t>
            </a:r>
            <a:r>
              <a:rPr lang="en-US" dirty="0"/>
              <a:t>|</a:t>
            </a:r>
          </a:p>
          <a:p>
            <a:r>
              <a:rPr lang="en-US" dirty="0" smtClean="0"/>
              <a:t>|--------------                  |-------|-------------|</a:t>
            </a:r>
            <a:endParaRPr lang="en-US" dirty="0"/>
          </a:p>
          <a:p>
            <a:r>
              <a:rPr lang="en-US" dirty="0"/>
              <a:t>| </a:t>
            </a:r>
            <a:r>
              <a:rPr lang="en-US" dirty="0" smtClean="0"/>
              <a:t>Places                         | 54%   | </a:t>
            </a:r>
            <a:r>
              <a:rPr lang="en-US" dirty="0"/>
              <a:t>Home, Road, Colony—narrative setting |</a:t>
            </a:r>
          </a:p>
          <a:p>
            <a:r>
              <a:rPr lang="en-US" dirty="0"/>
              <a:t>| Environmental Factors | 28% </a:t>
            </a:r>
            <a:r>
              <a:rPr lang="en-US" dirty="0" smtClean="0"/>
              <a:t>  | Fire(highest </a:t>
            </a:r>
            <a:r>
              <a:rPr lang="en-US" dirty="0"/>
              <a:t>single frequency) |</a:t>
            </a:r>
          </a:p>
          <a:p>
            <a:r>
              <a:rPr lang="en-US" dirty="0"/>
              <a:t>| Machines </a:t>
            </a:r>
            <a:r>
              <a:rPr lang="en-US" dirty="0" smtClean="0"/>
              <a:t>                     | </a:t>
            </a:r>
            <a:r>
              <a:rPr lang="en-US" dirty="0"/>
              <a:t>8% </a:t>
            </a:r>
            <a:r>
              <a:rPr lang="en-US" dirty="0" smtClean="0"/>
              <a:t>  | </a:t>
            </a:r>
            <a:r>
              <a:rPr lang="en-US" dirty="0"/>
              <a:t>Prosthetics, </a:t>
            </a:r>
            <a:r>
              <a:rPr lang="en-US" dirty="0" smtClean="0"/>
              <a:t>car— solutions proposed|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74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Digital Affordances - How the Poems Work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"</a:t>
            </a:r>
            <a:r>
              <a:rPr lang="en-US" dirty="0" err="1"/>
              <a:t>Climatophosis</a:t>
            </a:r>
            <a:r>
              <a:rPr lang="en-US" dirty="0"/>
              <a:t>" - Interactive </a:t>
            </a:r>
            <a:r>
              <a:rPr lang="en-US" dirty="0" smtClean="0"/>
              <a:t>Features</a:t>
            </a:r>
          </a:p>
          <a:p>
            <a:r>
              <a:rPr lang="en-US" dirty="0"/>
              <a:t>| </a:t>
            </a:r>
            <a:r>
              <a:rPr lang="en-US" dirty="0" smtClean="0"/>
              <a:t>Feature    | Meaning|</a:t>
            </a:r>
            <a:endParaRPr lang="en-US" dirty="0"/>
          </a:p>
          <a:p>
            <a:r>
              <a:rPr lang="en-US" dirty="0"/>
              <a:t>|-------------|-------------|</a:t>
            </a:r>
          </a:p>
          <a:p>
            <a:r>
              <a:rPr lang="en-US" dirty="0"/>
              <a:t>| Live </a:t>
            </a:r>
            <a:r>
              <a:rPr lang="en-US" dirty="0" err="1"/>
              <a:t>heatmap</a:t>
            </a:r>
            <a:r>
              <a:rPr lang="en-US" dirty="0"/>
              <a:t> background | Universal impact of climate change |</a:t>
            </a:r>
          </a:p>
          <a:p>
            <a:r>
              <a:rPr lang="en-US" dirty="0"/>
              <a:t>| Moving text (kinetic poetry) | Constant discussion, chaos |</a:t>
            </a:r>
          </a:p>
          <a:p>
            <a:r>
              <a:rPr lang="en-US" dirty="0"/>
              <a:t>| </a:t>
            </a:r>
            <a:r>
              <a:rPr lang="en-US" dirty="0" smtClean="0"/>
              <a:t>Hover </a:t>
            </a:r>
            <a:r>
              <a:rPr lang="en-US" dirty="0"/>
              <a:t>to stop </a:t>
            </a:r>
            <a:r>
              <a:rPr lang="en-US" dirty="0" smtClean="0"/>
              <a:t>text</a:t>
            </a:r>
            <a:r>
              <a:rPr lang="en-US" dirty="0"/>
              <a:t> </a:t>
            </a:r>
            <a:r>
              <a:rPr lang="en-US" dirty="0" smtClean="0"/>
              <a:t>  | Humanity </a:t>
            </a:r>
            <a:r>
              <a:rPr lang="en-US" b="1" i="1" dirty="0"/>
              <a:t>CAN</a:t>
            </a:r>
            <a:r>
              <a:rPr lang="en-US" dirty="0"/>
              <a:t> stop climate </a:t>
            </a:r>
            <a:r>
              <a:rPr lang="en-US" dirty="0" smtClean="0"/>
              <a:t>change </a:t>
            </a:r>
            <a:r>
              <a:rPr lang="en-US" dirty="0"/>
              <a:t>|</a:t>
            </a:r>
          </a:p>
          <a:p>
            <a:r>
              <a:rPr lang="en-US" dirty="0"/>
              <a:t>| French + English text | Global audience, breaking barriers |</a:t>
            </a:r>
          </a:p>
          <a:p>
            <a:r>
              <a:rPr lang="en-US" dirty="0"/>
              <a:t>| Static sun &amp; title | Unchanging elements in </a:t>
            </a:r>
            <a:r>
              <a:rPr lang="en-US" dirty="0" smtClean="0"/>
              <a:t>a changing </a:t>
            </a:r>
            <a:r>
              <a:rPr lang="en-US" dirty="0"/>
              <a:t>world |</a:t>
            </a:r>
          </a:p>
          <a:p>
            <a:r>
              <a:rPr lang="en-US" dirty="0" smtClean="0"/>
              <a:t>"</a:t>
            </a:r>
            <a:r>
              <a:rPr lang="en-US" dirty="0"/>
              <a:t>The text keeps moving around the world symbolizing all the discussion that goes on surrounding climate change whilst the temperatures of the earth remain the same</a:t>
            </a:r>
            <a:r>
              <a:rPr lang="en-US" dirty="0" smtClean="0"/>
              <a:t>" </a:t>
            </a:r>
            <a:r>
              <a:rPr lang="en-US" dirty="0"/>
              <a:t>(Earle, 2022)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99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39635"/>
            <a:ext cx="8596668" cy="5701728"/>
          </a:xfrm>
        </p:spPr>
        <p:txBody>
          <a:bodyPr/>
          <a:lstStyle/>
          <a:p>
            <a:r>
              <a:rPr lang="en-US" dirty="0" smtClean="0"/>
              <a:t>Digital </a:t>
            </a:r>
            <a:r>
              <a:rPr lang="en-US" dirty="0"/>
              <a:t>Affordances - "</a:t>
            </a:r>
            <a:r>
              <a:rPr lang="en-US" dirty="0" smtClean="0"/>
              <a:t>Prosthetics for a changing climate"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 smtClean="0"/>
              <a:t>Game-Narrative </a:t>
            </a:r>
            <a:r>
              <a:rPr lang="en-US" dirty="0"/>
              <a:t>Interface**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| </a:t>
            </a:r>
            <a:r>
              <a:rPr lang="en-US" dirty="0" smtClean="0"/>
              <a:t>Affordance                       | Function                | Meaning </a:t>
            </a:r>
            <a:r>
              <a:rPr lang="en-US" dirty="0"/>
              <a:t>|</a:t>
            </a:r>
          </a:p>
          <a:p>
            <a:r>
              <a:rPr lang="en-US" dirty="0" smtClean="0"/>
              <a:t>|----------------                    |--------------             |-------------|</a:t>
            </a:r>
            <a:endParaRPr lang="en-US" dirty="0"/>
          </a:p>
          <a:p>
            <a:r>
              <a:rPr lang="en-US" dirty="0"/>
              <a:t>| Animal images (4 species) | Selection interface | Victims of bushfire |</a:t>
            </a:r>
          </a:p>
          <a:p>
            <a:r>
              <a:rPr lang="en-US" dirty="0"/>
              <a:t>| Prosthetic images </a:t>
            </a:r>
            <a:r>
              <a:rPr lang="en-US" dirty="0" smtClean="0"/>
              <a:t>            | </a:t>
            </a:r>
            <a:r>
              <a:rPr lang="en-US" dirty="0"/>
              <a:t>Interactive choices | Technological solutions |</a:t>
            </a:r>
          </a:p>
          <a:p>
            <a:r>
              <a:rPr lang="en-US" dirty="0"/>
              <a:t>| Sound (burning bush) </a:t>
            </a:r>
            <a:r>
              <a:rPr lang="en-US" dirty="0" smtClean="0"/>
              <a:t>      | </a:t>
            </a:r>
            <a:r>
              <a:rPr lang="en-US" dirty="0"/>
              <a:t>Immersive experience | Crisis atmosphere |</a:t>
            </a:r>
          </a:p>
          <a:p>
            <a:r>
              <a:rPr lang="en-US" dirty="0"/>
              <a:t>| Color changes on selection </a:t>
            </a:r>
            <a:r>
              <a:rPr lang="en-US" dirty="0" smtClean="0"/>
              <a:t>| </a:t>
            </a:r>
            <a:r>
              <a:rPr lang="en-US" dirty="0"/>
              <a:t>User feedback </a:t>
            </a:r>
            <a:r>
              <a:rPr lang="en-US" dirty="0" smtClean="0"/>
              <a:t>       | </a:t>
            </a:r>
            <a:r>
              <a:rPr lang="en-US" dirty="0"/>
              <a:t>Correct choices matter |</a:t>
            </a:r>
          </a:p>
          <a:p>
            <a:r>
              <a:rPr lang="en-US" dirty="0"/>
              <a:t>| Fire sparks animation </a:t>
            </a:r>
            <a:r>
              <a:rPr lang="en-US" dirty="0" smtClean="0"/>
              <a:t>      | </a:t>
            </a:r>
            <a:r>
              <a:rPr lang="en-US" dirty="0"/>
              <a:t>Visual metaphor </a:t>
            </a:r>
            <a:r>
              <a:rPr lang="en-US" dirty="0" smtClean="0"/>
              <a:t>       |  </a:t>
            </a:r>
            <a:r>
              <a:rPr lang="en-US" dirty="0"/>
              <a:t>Chaos of disaster |</a:t>
            </a:r>
          </a:p>
          <a:p>
            <a:r>
              <a:rPr lang="en-US" dirty="0"/>
              <a:t>| </a:t>
            </a:r>
            <a:r>
              <a:rPr lang="en-US" dirty="0" smtClean="0"/>
              <a:t>Text </a:t>
            </a:r>
            <a:r>
              <a:rPr lang="en-US" dirty="0"/>
              <a:t>appears on correct </a:t>
            </a:r>
            <a:r>
              <a:rPr lang="en-US" dirty="0" smtClean="0"/>
              <a:t>clicks </a:t>
            </a:r>
            <a:r>
              <a:rPr lang="en-US" dirty="0"/>
              <a:t>| </a:t>
            </a:r>
            <a:r>
              <a:rPr lang="en-US" dirty="0" err="1"/>
              <a:t>Gamified</a:t>
            </a:r>
            <a:r>
              <a:rPr lang="en-US" dirty="0"/>
              <a:t> reading | Hope through right action |</a:t>
            </a:r>
          </a:p>
        </p:txBody>
      </p:sp>
    </p:spTree>
    <p:extLst>
      <p:ext uri="{BB962C8B-B14F-4D97-AF65-F5344CB8AC3E}">
        <p14:creationId xmlns:p14="http://schemas.microsoft.com/office/powerpoint/2010/main" val="286843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96824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Feature: Static 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page (no fire sparks) = </a:t>
            </a: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pre-crisis serenity; 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launched by click </a:t>
            </a: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=human agency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8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DISCOVERY - Meta-</a:t>
            </a:r>
            <a:r>
              <a:rPr lang="en-US" dirty="0" err="1"/>
              <a:t>Entax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Beyond </a:t>
            </a:r>
            <a:r>
              <a:rPr lang="en-US" dirty="0"/>
              <a:t>Di Rosario's Three </a:t>
            </a:r>
            <a:r>
              <a:rPr lang="en-US" dirty="0" smtClean="0"/>
              <a:t>Domains</a:t>
            </a:r>
            <a:r>
              <a:rPr lang="en-US" dirty="0"/>
              <a:t> </a:t>
            </a:r>
          </a:p>
          <a:p>
            <a:r>
              <a:rPr lang="en-US" dirty="0"/>
              <a:t>| </a:t>
            </a:r>
            <a:r>
              <a:rPr lang="en-US" dirty="0" smtClean="0"/>
              <a:t>Domain </a:t>
            </a:r>
            <a:r>
              <a:rPr lang="en-US" dirty="0"/>
              <a:t>| </a:t>
            </a:r>
            <a:r>
              <a:rPr lang="en-US" dirty="0" smtClean="0"/>
              <a:t>Focus       | Examples </a:t>
            </a:r>
            <a:r>
              <a:rPr lang="en-US" dirty="0"/>
              <a:t>|</a:t>
            </a:r>
          </a:p>
          <a:p>
            <a:r>
              <a:rPr lang="en-US" dirty="0"/>
              <a:t>|------------|-----------|--------------|</a:t>
            </a:r>
          </a:p>
          <a:p>
            <a:r>
              <a:rPr lang="en-US" dirty="0"/>
              <a:t>| Micro | Morphemes/words | Text colors, fonts, movements |</a:t>
            </a:r>
          </a:p>
          <a:p>
            <a:r>
              <a:rPr lang="en-US" dirty="0"/>
              <a:t>| </a:t>
            </a:r>
            <a:r>
              <a:rPr lang="en-US" dirty="0" err="1"/>
              <a:t>Meso</a:t>
            </a:r>
            <a:r>
              <a:rPr lang="en-US" dirty="0"/>
              <a:t> | Lexemes/images | Words forming images |</a:t>
            </a:r>
          </a:p>
          <a:p>
            <a:r>
              <a:rPr lang="en-US" dirty="0"/>
              <a:t>| Macro | Sentences/context | Overall meaning |</a:t>
            </a:r>
          </a:p>
          <a:p>
            <a:r>
              <a:rPr lang="en-US" dirty="0" smtClean="0"/>
              <a:t>New-META-ENTAX| Beyond </a:t>
            </a:r>
            <a:r>
              <a:rPr lang="en-US" dirty="0"/>
              <a:t>alphabetic </a:t>
            </a:r>
            <a:r>
              <a:rPr lang="en-US" dirty="0" smtClean="0"/>
              <a:t>text </a:t>
            </a:r>
            <a:r>
              <a:rPr lang="en-US" dirty="0"/>
              <a:t>| </a:t>
            </a:r>
            <a:r>
              <a:rPr lang="en-US" dirty="0" smtClean="0"/>
              <a:t>Sounds</a:t>
            </a:r>
            <a:r>
              <a:rPr lang="en-US" dirty="0"/>
              <a:t>, interactions, HCI, images, reading </a:t>
            </a:r>
            <a:r>
              <a:rPr lang="en-US" dirty="0" smtClean="0"/>
              <a:t>method </a:t>
            </a:r>
            <a:r>
              <a:rPr lang="en-US" dirty="0"/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3995278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35577"/>
            <a:ext cx="8596668" cy="5505785"/>
          </a:xfrm>
        </p:spPr>
        <p:txBody>
          <a:bodyPr>
            <a:no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Hovering to stop text in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Climatophosis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Burning bush sound in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“Prosthetics…”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Clicking prosthetics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Animal images changing color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Background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658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Meaning </a:t>
            </a:r>
            <a:r>
              <a:rPr lang="en-US" sz="4000" dirty="0"/>
              <a:t>in eco-digital literature comes from </a:t>
            </a:r>
            <a:r>
              <a:rPr lang="en-US" sz="4000" dirty="0" smtClean="0"/>
              <a:t>BOTH </a:t>
            </a:r>
            <a:r>
              <a:rPr lang="en-US" sz="4000" dirty="0"/>
              <a:t>text AND digital </a:t>
            </a:r>
            <a:r>
              <a:rPr lang="en-US" sz="4000" dirty="0" smtClean="0"/>
              <a:t>affordances.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86893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Thanks for listening!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68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940526"/>
            <a:ext cx="4184035" cy="510083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</a:t>
            </a:r>
            <a:r>
              <a:rPr lang="en-US" dirty="0" err="1"/>
              <a:t>Waliya</a:t>
            </a:r>
            <a:r>
              <a:rPr lang="en-US" dirty="0"/>
              <a:t>, </a:t>
            </a:r>
            <a:r>
              <a:rPr lang="en-US" dirty="0" err="1"/>
              <a:t>Yohanna</a:t>
            </a:r>
            <a:r>
              <a:rPr lang="en-US" dirty="0"/>
              <a:t> Joseph, Nigeria, </a:t>
            </a:r>
            <a:r>
              <a:rPr lang="en-US" dirty="0" smtClean="0"/>
              <a:t>2020a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projects.cah.ucf.edu/mediaartsexhibits/ClimatesOfChange/Waliya/climatophosis.html</a:t>
            </a:r>
            <a:endParaRPr lang="en-US" u="sng" dirty="0" smtClean="0"/>
          </a:p>
          <a:p>
            <a:endParaRPr lang="en-US" dirty="0"/>
          </a:p>
          <a:p>
            <a:r>
              <a:rPr lang="en-US" dirty="0" err="1"/>
              <a:t>Climatophosis</a:t>
            </a:r>
            <a:r>
              <a:rPr lang="en-US" dirty="0"/>
              <a:t> 2.0: </a:t>
            </a:r>
            <a:r>
              <a:rPr lang="en-US" u="sng" dirty="0">
                <a:hlinkClick r:id="rId3"/>
              </a:rPr>
              <a:t>https://</a:t>
            </a:r>
            <a:r>
              <a:rPr lang="en-US" u="sng" dirty="0" smtClean="0">
                <a:hlinkClick r:id="rId3"/>
              </a:rPr>
              <a:t>techsty.art.pl/m12/climatophosis2_0/climatophosis2.html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earth shrugs,</a:t>
            </a:r>
          </a:p>
          <a:p>
            <a:pPr marL="0" indent="0">
              <a:buNone/>
            </a:pPr>
            <a:r>
              <a:rPr lang="en-US" dirty="0"/>
              <a:t>Says,</a:t>
            </a:r>
          </a:p>
          <a:p>
            <a:pPr marL="0" indent="0">
              <a:buNone/>
            </a:pPr>
            <a:r>
              <a:rPr lang="en-US" dirty="0"/>
              <a:t>Humanity is a problem to itself</a:t>
            </a:r>
          </a:p>
          <a:p>
            <a:pPr marL="0" indent="0">
              <a:buNone/>
            </a:pPr>
            <a:r>
              <a:rPr lang="en-US" dirty="0"/>
              <a:t>and other living things:</a:t>
            </a:r>
          </a:p>
          <a:p>
            <a:pPr marL="0" indent="0">
              <a:buNone/>
            </a:pPr>
            <a:r>
              <a:rPr lang="en-US" dirty="0"/>
              <a:t>they have learned to take but, </a:t>
            </a:r>
          </a:p>
          <a:p>
            <a:pPr marL="0" indent="0">
              <a:buNone/>
            </a:pPr>
            <a:r>
              <a:rPr lang="en-US" dirty="0"/>
              <a:t>not to give to their environment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940527"/>
            <a:ext cx="5072933" cy="51008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The sea overflows,</a:t>
            </a:r>
          </a:p>
          <a:p>
            <a:pPr marL="0" indent="0">
              <a:buNone/>
            </a:pPr>
            <a:r>
              <a:rPr lang="en-US" dirty="0"/>
              <a:t>says,</a:t>
            </a:r>
          </a:p>
          <a:p>
            <a:pPr marL="0" indent="0">
              <a:buNone/>
            </a:pPr>
            <a:r>
              <a:rPr lang="en-US" dirty="0"/>
              <a:t>People fill me with plastic,</a:t>
            </a:r>
          </a:p>
          <a:p>
            <a:pPr marL="0" indent="0">
              <a:buNone/>
            </a:pPr>
            <a:r>
              <a:rPr lang="en-US" dirty="0"/>
              <a:t>change my temperature and currents,</a:t>
            </a:r>
          </a:p>
          <a:p>
            <a:pPr marL="0" indent="0">
              <a:buNone/>
            </a:pPr>
            <a:r>
              <a:rPr lang="en-US" dirty="0"/>
              <a:t> and kill my living things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glaciers melt,</a:t>
            </a:r>
          </a:p>
          <a:p>
            <a:pPr marL="0" indent="0">
              <a:buNone/>
            </a:pPr>
            <a:r>
              <a:rPr lang="en-US" dirty="0"/>
              <a:t>say,</a:t>
            </a:r>
          </a:p>
          <a:p>
            <a:pPr marL="0" indent="0">
              <a:buNone/>
            </a:pPr>
            <a:r>
              <a:rPr lang="en-US" dirty="0"/>
              <a:t>I am thousands of years old</a:t>
            </a:r>
          </a:p>
          <a:p>
            <a:pPr marL="0" indent="0">
              <a:buNone/>
            </a:pPr>
            <a:r>
              <a:rPr lang="en-US" dirty="0"/>
              <a:t>but now am disappearing</a:t>
            </a:r>
          </a:p>
          <a:p>
            <a:pPr marL="0" indent="0">
              <a:buNone/>
            </a:pPr>
            <a:r>
              <a:rPr lang="en-US" dirty="0"/>
              <a:t>		and will raise the ocean levels to flood the </a:t>
            </a:r>
            <a:r>
              <a:rPr lang="en-US" dirty="0" smtClean="0"/>
              <a:t>cities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sun scorches,</a:t>
            </a:r>
          </a:p>
          <a:p>
            <a:pPr marL="0" indent="0">
              <a:buNone/>
            </a:pPr>
            <a:r>
              <a:rPr lang="en-US" dirty="0"/>
              <a:t>says,</a:t>
            </a:r>
          </a:p>
          <a:p>
            <a:pPr marL="0" indent="0">
              <a:buNone/>
            </a:pPr>
            <a:r>
              <a:rPr lang="en-US" dirty="0"/>
              <a:t>People are to blame because they cut down the trees</a:t>
            </a:r>
          </a:p>
          <a:p>
            <a:pPr marL="0" indent="0">
              <a:buNone/>
            </a:pPr>
            <a:r>
              <a:rPr lang="en-US" dirty="0"/>
              <a:t>and burn so much carbon, they warm the earth itself.</a:t>
            </a:r>
          </a:p>
        </p:txBody>
      </p:sp>
    </p:spTree>
    <p:extLst>
      <p:ext uri="{BB962C8B-B14F-4D97-AF65-F5344CB8AC3E}">
        <p14:creationId xmlns:p14="http://schemas.microsoft.com/office/powerpoint/2010/main" val="3393687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181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PROSTHETICS FOR A CLIMATE CHANGE</a:t>
            </a:r>
            <a:br>
              <a:rPr lang="en-US" dirty="0"/>
            </a:br>
            <a:r>
              <a:rPr lang="en-US" dirty="0"/>
              <a:t>By </a:t>
            </a:r>
            <a:r>
              <a:rPr lang="en-US" dirty="0" err="1"/>
              <a:t>Alinta</a:t>
            </a:r>
            <a:r>
              <a:rPr lang="en-US" dirty="0"/>
              <a:t> </a:t>
            </a:r>
            <a:r>
              <a:rPr lang="en-US" dirty="0" err="1"/>
              <a:t>Krauth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r>
              <a:rPr lang="en-US" sz="1800" i="1" dirty="0"/>
              <a:t>Prosthetics for a Changing Climate,</a:t>
            </a:r>
            <a:r>
              <a:rPr lang="en-US" sz="1800" dirty="0"/>
              <a:t> by </a:t>
            </a:r>
            <a:r>
              <a:rPr lang="en-US" sz="1800" dirty="0" err="1"/>
              <a:t>Alinta</a:t>
            </a:r>
            <a:r>
              <a:rPr lang="en-US" sz="1800" dirty="0"/>
              <a:t> </a:t>
            </a:r>
            <a:r>
              <a:rPr lang="en-US" sz="1800" dirty="0" err="1"/>
              <a:t>Krauth</a:t>
            </a:r>
            <a:r>
              <a:rPr lang="en-US" sz="1800" dirty="0"/>
              <a:t> (2020, </a:t>
            </a:r>
            <a:r>
              <a:rPr lang="en-US" sz="1800" u="sng" dirty="0">
                <a:hlinkClick r:id="rId2"/>
              </a:rPr>
              <a:t>https://projects.cah.ucf.edu/mediaartsexhibits/ClimatesOfChange/index.html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677886"/>
            <a:ext cx="4184035" cy="384047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There’s fire on the ridge!</a:t>
            </a:r>
            <a:br>
              <a:rPr lang="en-US" dirty="0"/>
            </a:br>
            <a:r>
              <a:rPr lang="en-US" dirty="0"/>
              <a:t>…we evacuate at the last minute in an effort to save our home. We clear everything away from its sides, leaving nothing but a shrine to the fire- a selection of knick- knacks atop a steel </a:t>
            </a:r>
            <a:r>
              <a:rPr lang="en-US" dirty="0" smtClean="0"/>
              <a:t>step- </a:t>
            </a:r>
            <a:r>
              <a:rPr lang="en-US" dirty="0"/>
              <a:t>ladder</a:t>
            </a:r>
            <a:r>
              <a:rPr lang="en-US" dirty="0" smtClean="0"/>
              <a:t>…</a:t>
            </a:r>
          </a:p>
          <a:p>
            <a:pPr marL="0" indent="0">
              <a:buNone/>
            </a:pPr>
            <a:r>
              <a:rPr lang="en-US" dirty="0"/>
              <a:t>…a body segmented into strips by barbed wire…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…barbed wire cuts tiger stripes along a baby’s paper- fine skin…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455817"/>
            <a:ext cx="5059870" cy="35855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…Jumping on burnt feet…</a:t>
            </a:r>
          </a:p>
          <a:p>
            <a:pPr marL="0" indent="0">
              <a:buNone/>
            </a:pPr>
            <a:r>
              <a:rPr lang="en-US" dirty="0"/>
              <a:t>…we rush back to find our home has survived. Instead, the fire has taken a shock change of direction away from us, and had within twenty minutes, completely wiped out the open grass plains that the wallabies so love…</a:t>
            </a:r>
          </a:p>
          <a:p>
            <a:pPr marL="0" indent="0">
              <a:buNone/>
            </a:pPr>
            <a:r>
              <a:rPr lang="en-US" dirty="0"/>
              <a:t>…it was baby season…</a:t>
            </a:r>
          </a:p>
          <a:p>
            <a:pPr marL="0" indent="0">
              <a:buNone/>
            </a:pPr>
            <a:r>
              <a:rPr lang="en-US" dirty="0"/>
              <a:t>…when skin and steel burn together, they enfold around each other…</a:t>
            </a:r>
          </a:p>
          <a:p>
            <a:pPr marL="0" indent="0">
              <a:buNone/>
            </a:pPr>
            <a:r>
              <a:rPr lang="en-US" dirty="0"/>
              <a:t>…the smell of burnt hair almost outweighs the smell of cracking eucalypts…</a:t>
            </a:r>
          </a:p>
          <a:p>
            <a:pPr marL="0" indent="0">
              <a:buNone/>
            </a:pPr>
            <a:r>
              <a:rPr lang="en-US" dirty="0"/>
              <a:t>…he reaches out to steal the seeds with such dexterity, those little chubby possum hands…</a:t>
            </a:r>
          </a:p>
        </p:txBody>
      </p:sp>
    </p:spTree>
    <p:extLst>
      <p:ext uri="{BB962C8B-B14F-4D97-AF65-F5344CB8AC3E}">
        <p14:creationId xmlns:p14="http://schemas.microsoft.com/office/powerpoint/2010/main" val="71399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3326" y="431074"/>
            <a:ext cx="4378043" cy="5610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…the possums, not usually out during the day, run so fast they hop like rabbits…</a:t>
            </a:r>
          </a:p>
          <a:p>
            <a:pPr marL="0" indent="0">
              <a:buNone/>
            </a:pPr>
            <a:r>
              <a:rPr lang="en-US" dirty="0"/>
              <a:t>…we walk the horses through the orange air and down to the creek where we leave them…</a:t>
            </a:r>
          </a:p>
          <a:p>
            <a:pPr marL="0" indent="0">
              <a:buNone/>
            </a:pPr>
            <a:r>
              <a:rPr lang="en-US" dirty="0"/>
              <a:t>…air becomes chewable…</a:t>
            </a:r>
          </a:p>
          <a:p>
            <a:pPr marL="0" indent="0">
              <a:buNone/>
            </a:pPr>
            <a:r>
              <a:rPr lang="en-US" dirty="0"/>
              <a:t>…When burnt, the echidna curls into a ball and lets its spikes burn flat… </a:t>
            </a:r>
          </a:p>
          <a:p>
            <a:pPr marL="0" indent="0">
              <a:buNone/>
            </a:pPr>
            <a:r>
              <a:rPr lang="en-US" dirty="0"/>
              <a:t>…we drive twenty minutes down the road before pulling over to cry…</a:t>
            </a:r>
          </a:p>
          <a:p>
            <a:pPr marL="0" indent="0">
              <a:buNone/>
            </a:pPr>
            <a:r>
              <a:rPr lang="en-US" dirty="0"/>
              <a:t>…In a moment of madness, we turn the car back to hurtle towards our house in time to see a massive fire- bomb seemingly erupt beyond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5326" y="431075"/>
            <a:ext cx="4218678" cy="5610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…Just months before, a student at a university had been charged for throwing an echidna off a tall building, to ‘see how high it could survive from’…</a:t>
            </a:r>
          </a:p>
          <a:p>
            <a:pPr marL="0" indent="0">
              <a:buNone/>
            </a:pPr>
            <a:r>
              <a:rPr lang="en-US" dirty="0"/>
              <a:t>…We rush back to find our home has survived. Instead, the fire has taken a shock as, within twenty minutes, completely wiped out the koala colony down the road, including the one- eyed mum and her joey…</a:t>
            </a:r>
          </a:p>
          <a:p>
            <a:pPr marL="0" indent="0">
              <a:buNone/>
            </a:pPr>
            <a:r>
              <a:rPr lang="en-US" dirty="0"/>
              <a:t>…Only days before, I had seen the one -eyed mother Koala. She had let her joey peer out at me from where it clung to her back…</a:t>
            </a:r>
          </a:p>
          <a:p>
            <a:pPr marL="0" indent="0">
              <a:buNone/>
            </a:pPr>
            <a:r>
              <a:rPr lang="en-US" dirty="0"/>
              <a:t>…they find her on a fallen log, clutching the joey tightly though the flames…</a:t>
            </a:r>
          </a:p>
        </p:txBody>
      </p:sp>
    </p:spTree>
    <p:extLst>
      <p:ext uri="{BB962C8B-B14F-4D97-AF65-F5344CB8AC3E}">
        <p14:creationId xmlns:p14="http://schemas.microsoft.com/office/powerpoint/2010/main" val="7891266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755</TotalTime>
  <Words>1188</Words>
  <Application>Microsoft Office PowerPoint</Application>
  <PresentationFormat>Widescreen</PresentationFormat>
  <Paragraphs>171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Times New Roman</vt:lpstr>
      <vt:lpstr>Trebuchet MS</vt:lpstr>
      <vt:lpstr>Wingdings 3</vt:lpstr>
      <vt:lpstr>Facet</vt:lpstr>
      <vt:lpstr>Lecture Slides for Linguistic Lightening, Bangor University, Wales.</vt:lpstr>
      <vt:lpstr>Presented By: Ugwumgbo Emeka Augustine  From: The department of Language Technologies, Bangor Uni, Wales.  </vt:lpstr>
      <vt:lpstr>Introduction: Why Eco-Digital Literature?</vt:lpstr>
      <vt:lpstr> </vt:lpstr>
      <vt:lpstr>The Challenge:</vt:lpstr>
      <vt:lpstr>What is Eco-Digital Literature?  </vt:lpstr>
      <vt:lpstr> Key Features:</vt:lpstr>
      <vt:lpstr>Two Poems Under Study: </vt:lpstr>
      <vt:lpstr>Theoretical Framework: How to Analyze Eco-Digital Texts.</vt:lpstr>
      <vt:lpstr>Entax Domains: (Greek)EN-in, into, tax-arrange, arrangement: The syntax of electronic space.</vt:lpstr>
      <vt:lpstr>Finding 1 - Ecological Lexicons in "Climatophosis"  </vt:lpstr>
      <vt:lpstr>Key Insight: Humanity has the highest frequency—the poem blames humans for climate change: Personification of nature.</vt:lpstr>
      <vt:lpstr>PowerPoint Presentation</vt:lpstr>
      <vt:lpstr>PowerPoint Presentation</vt:lpstr>
      <vt:lpstr>Finding 3 - Abiotic Lexicons (Both Poems)  </vt:lpstr>
      <vt:lpstr>PowerPoint Presentation</vt:lpstr>
      <vt:lpstr>Digital Affordances - How the Poems Work   </vt:lpstr>
      <vt:lpstr>PowerPoint Presentation</vt:lpstr>
      <vt:lpstr>Key Feature: Static first page (no fire sparks) = pre-crisis serenity; launched by click =human agency </vt:lpstr>
      <vt:lpstr>THE DISCOVERY - Meta-Entax</vt:lpstr>
      <vt:lpstr>PowerPoint Presentation</vt:lpstr>
      <vt:lpstr>  CONCLUSION</vt:lpstr>
      <vt:lpstr>PowerPoint Presentation</vt:lpstr>
      <vt:lpstr>PowerPoint Presentation</vt:lpstr>
      <vt:lpstr>PROSTHETICS FOR A CLIMATE CHANGE By Alinta Krauth  Prosthetics for a Changing Climate, by Alinta Krauth (2020, https://projects.cah.ucf.edu/mediaartsexhibits/ClimatesOfChange/index.html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conference paper for Linguistic Lightening, Bangor University, Wales.</dc:title>
  <dc:creator>DELL</dc:creator>
  <cp:lastModifiedBy>DELL</cp:lastModifiedBy>
  <cp:revision>35</cp:revision>
  <dcterms:created xsi:type="dcterms:W3CDTF">2026-02-23T15:45:45Z</dcterms:created>
  <dcterms:modified xsi:type="dcterms:W3CDTF">2026-02-25T08:14:03Z</dcterms:modified>
</cp:coreProperties>
</file>