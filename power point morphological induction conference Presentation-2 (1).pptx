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65" r:id="rId1"/>
  </p:sldMasterIdLst>
  <p:sldIdLst>
    <p:sldId id="277" r:id="rId2"/>
    <p:sldId id="276" r:id="rId3"/>
    <p:sldId id="275" r:id="rId4"/>
    <p:sldId id="282" r:id="rId5"/>
    <p:sldId id="278" r:id="rId6"/>
    <p:sldId id="279" r:id="rId7"/>
    <p:sldId id="281" r:id="rId8"/>
    <p:sldId id="280" r:id="rId9"/>
    <p:sldId id="271" r:id="rId10"/>
    <p:sldId id="270" r:id="rId11"/>
    <p:sldId id="283" r:id="rId12"/>
    <p:sldId id="269" r:id="rId13"/>
    <p:sldId id="268" r:id="rId14"/>
    <p:sldId id="284" r:id="rId15"/>
    <p:sldId id="267" r:id="rId16"/>
    <p:sldId id="266" r:id="rId17"/>
    <p:sldId id="265" r:id="rId18"/>
    <p:sldId id="285" r:id="rId19"/>
    <p:sldId id="264" r:id="rId20"/>
    <p:sldId id="263" r:id="rId21"/>
    <p:sldId id="262" r:id="rId22"/>
    <p:sldId id="261" r:id="rId23"/>
    <p:sldId id="286" r:id="rId24"/>
    <p:sldId id="287" r:id="rId25"/>
    <p:sldId id="259" r:id="rId26"/>
    <p:sldId id="258" r:id="rId27"/>
    <p:sldId id="257" r:id="rId28"/>
    <p:sldId id="256"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7CE8B7D-6533-420A-970D-7D60985BEA8E}"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E5C66D2-2F15-49A6-BE96-A05E807567CD}" type="slidenum">
              <a:rPr lang="en-US" smtClean="0"/>
              <a:t>‹#›</a:t>
            </a:fld>
            <a:endParaRPr lang="en-US"/>
          </a:p>
        </p:txBody>
      </p:sp>
    </p:spTree>
    <p:extLst>
      <p:ext uri="{BB962C8B-B14F-4D97-AF65-F5344CB8AC3E}">
        <p14:creationId xmlns:p14="http://schemas.microsoft.com/office/powerpoint/2010/main" val="385174097"/>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CE8B7D-6533-420A-970D-7D60985BEA8E}"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E5C66D2-2F15-49A6-BE96-A05E807567CD}" type="slidenum">
              <a:rPr lang="en-US" smtClean="0"/>
              <a:t>‹#›</a:t>
            </a:fld>
            <a:endParaRPr lang="en-US"/>
          </a:p>
        </p:txBody>
      </p:sp>
    </p:spTree>
    <p:extLst>
      <p:ext uri="{BB962C8B-B14F-4D97-AF65-F5344CB8AC3E}">
        <p14:creationId xmlns:p14="http://schemas.microsoft.com/office/powerpoint/2010/main" val="3764418214"/>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7CE8B7D-6533-420A-970D-7D60985BEA8E}"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E5C66D2-2F15-49A6-BE96-A05E807567CD}" type="slidenum">
              <a:rPr lang="en-US" smtClean="0"/>
              <a:t>‹#›</a:t>
            </a:fld>
            <a:endParaRPr lang="en-US"/>
          </a:p>
        </p:txBody>
      </p:sp>
    </p:spTree>
    <p:extLst>
      <p:ext uri="{BB962C8B-B14F-4D97-AF65-F5344CB8AC3E}">
        <p14:creationId xmlns:p14="http://schemas.microsoft.com/office/powerpoint/2010/main" val="577176665"/>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7CE8B7D-6533-420A-970D-7D60985BEA8E}"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E5C66D2-2F15-49A6-BE96-A05E807567CD}" type="slidenum">
              <a:rPr lang="en-US" smtClean="0"/>
              <a:t>‹#›</a:t>
            </a:fld>
            <a:endParaRPr lang="en-US"/>
          </a:p>
        </p:txBody>
      </p:sp>
    </p:spTree>
    <p:extLst>
      <p:ext uri="{BB962C8B-B14F-4D97-AF65-F5344CB8AC3E}">
        <p14:creationId xmlns:p14="http://schemas.microsoft.com/office/powerpoint/2010/main" val="3328091312"/>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7CE8B7D-6533-420A-970D-7D60985BEA8E}" type="datetimeFigureOut">
              <a:rPr lang="en-US" smtClean="0"/>
              <a:t>6/11/2026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E5C66D2-2F15-49A6-BE96-A05E807567CD}" type="slidenum">
              <a:rPr lang="en-US" smtClean="0"/>
              <a:t>‹#›</a:t>
            </a:fld>
            <a:endParaRPr lang="en-US"/>
          </a:p>
        </p:txBody>
      </p:sp>
    </p:spTree>
    <p:extLst>
      <p:ext uri="{BB962C8B-B14F-4D97-AF65-F5344CB8AC3E}">
        <p14:creationId xmlns:p14="http://schemas.microsoft.com/office/powerpoint/2010/main" val="404508281"/>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7CE8B7D-6533-420A-970D-7D60985BEA8E}" type="datetimeFigureOut">
              <a:rPr lang="en-US" smtClean="0"/>
              <a:t>6/11/2026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E5C66D2-2F15-49A6-BE96-A05E807567CD}" type="slidenum">
              <a:rPr lang="en-US" smtClean="0"/>
              <a:t>‹#›</a:t>
            </a:fld>
            <a:endParaRPr lang="en-US"/>
          </a:p>
        </p:txBody>
      </p:sp>
    </p:spTree>
    <p:extLst>
      <p:ext uri="{BB962C8B-B14F-4D97-AF65-F5344CB8AC3E}">
        <p14:creationId xmlns:p14="http://schemas.microsoft.com/office/powerpoint/2010/main" val="2096713293"/>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CE8B7D-6533-420A-970D-7D60985BEA8E}" type="datetimeFigureOut">
              <a:rPr lang="en-US" smtClean="0"/>
              <a:t>6/11/2026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E5C66D2-2F15-49A6-BE96-A05E807567CD}" type="slidenum">
              <a:rPr lang="en-US" smtClean="0"/>
              <a:t>‹#›</a:t>
            </a:fld>
            <a:endParaRPr lang="en-US"/>
          </a:p>
        </p:txBody>
      </p:sp>
    </p:spTree>
    <p:extLst>
      <p:ext uri="{BB962C8B-B14F-4D97-AF65-F5344CB8AC3E}">
        <p14:creationId xmlns:p14="http://schemas.microsoft.com/office/powerpoint/2010/main" val="974242449"/>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CE8B7D-6533-420A-970D-7D60985BEA8E}"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E5C66D2-2F15-49A6-BE96-A05E807567CD}" type="slidenum">
              <a:rPr lang="en-US" smtClean="0"/>
              <a:t>‹#›</a:t>
            </a:fld>
            <a:endParaRPr lang="en-US"/>
          </a:p>
        </p:txBody>
      </p:sp>
    </p:spTree>
    <p:extLst>
      <p:ext uri="{BB962C8B-B14F-4D97-AF65-F5344CB8AC3E}">
        <p14:creationId xmlns:p14="http://schemas.microsoft.com/office/powerpoint/2010/main" val="2955431578"/>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7CE8B7D-6533-420A-970D-7D60985BEA8E}"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E5C66D2-2F15-49A6-BE96-A05E807567CD}" type="slidenum">
              <a:rPr lang="en-US" smtClean="0"/>
              <a:t>‹#›</a:t>
            </a:fld>
            <a:endParaRPr lang="en-US"/>
          </a:p>
        </p:txBody>
      </p:sp>
    </p:spTree>
    <p:extLst>
      <p:ext uri="{BB962C8B-B14F-4D97-AF65-F5344CB8AC3E}">
        <p14:creationId xmlns:p14="http://schemas.microsoft.com/office/powerpoint/2010/main" val="958700271"/>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7CE8B7D-6533-420A-970D-7D60985BEA8E}"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E5C66D2-2F15-49A6-BE96-A05E807567CD}" type="slidenum">
              <a:rPr lang="en-US" smtClean="0"/>
              <a:t>‹#›</a:t>
            </a:fld>
            <a:endParaRPr lang="en-US"/>
          </a:p>
        </p:txBody>
      </p:sp>
    </p:spTree>
    <p:extLst>
      <p:ext uri="{BB962C8B-B14F-4D97-AF65-F5344CB8AC3E}">
        <p14:creationId xmlns:p14="http://schemas.microsoft.com/office/powerpoint/2010/main" val="2525605725"/>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7CE8B7D-6533-420A-970D-7D60985BEA8E}"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E5C66D2-2F15-49A6-BE96-A05E807567CD}"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14981705"/>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C7CE8B7D-6533-420A-970D-7D60985BEA8E}"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E5C66D2-2F15-49A6-BE96-A05E807567CD}" type="slidenum">
              <a:rPr lang="en-US" smtClean="0"/>
              <a:t>‹#›</a:t>
            </a:fld>
            <a:endParaRPr lang="en-US"/>
          </a:p>
        </p:txBody>
      </p:sp>
    </p:spTree>
    <p:extLst>
      <p:ext uri="{BB962C8B-B14F-4D97-AF65-F5344CB8AC3E}">
        <p14:creationId xmlns:p14="http://schemas.microsoft.com/office/powerpoint/2010/main" val="799717177"/>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C7CE8B7D-6533-420A-970D-7D60985BEA8E}"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E5C66D2-2F15-49A6-BE96-A05E807567CD}"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5187003"/>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C7CE8B7D-6533-420A-970D-7D60985BEA8E}"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E5C66D2-2F15-49A6-BE96-A05E807567CD}" type="slidenum">
              <a:rPr lang="en-US" smtClean="0"/>
              <a:t>‹#›</a:t>
            </a:fld>
            <a:endParaRPr lang="en-US"/>
          </a:p>
        </p:txBody>
      </p:sp>
    </p:spTree>
    <p:extLst>
      <p:ext uri="{BB962C8B-B14F-4D97-AF65-F5344CB8AC3E}">
        <p14:creationId xmlns:p14="http://schemas.microsoft.com/office/powerpoint/2010/main" val="3473411921"/>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CE8B7D-6533-420A-970D-7D60985BEA8E}"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E5C66D2-2F15-49A6-BE96-A05E807567CD}" type="slidenum">
              <a:rPr lang="en-US" smtClean="0"/>
              <a:t>‹#›</a:t>
            </a:fld>
            <a:endParaRPr lang="en-US"/>
          </a:p>
        </p:txBody>
      </p:sp>
    </p:spTree>
    <p:extLst>
      <p:ext uri="{BB962C8B-B14F-4D97-AF65-F5344CB8AC3E}">
        <p14:creationId xmlns:p14="http://schemas.microsoft.com/office/powerpoint/2010/main" val="4176471222"/>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7CE8B7D-6533-420A-970D-7D60985BEA8E}"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E5C66D2-2F15-49A6-BE96-A05E807567CD}" type="slidenum">
              <a:rPr lang="en-US" smtClean="0"/>
              <a:t>‹#›</a:t>
            </a:fld>
            <a:endParaRPr lang="en-US"/>
          </a:p>
        </p:txBody>
      </p:sp>
    </p:spTree>
    <p:extLst>
      <p:ext uri="{BB962C8B-B14F-4D97-AF65-F5344CB8AC3E}">
        <p14:creationId xmlns:p14="http://schemas.microsoft.com/office/powerpoint/2010/main" val="196974194"/>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C7CE8B7D-6533-420A-970D-7D60985BEA8E}" type="datetimeFigureOut">
              <a:rPr lang="en-US" smtClean="0"/>
              <a:t>6/11/2026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E5C66D2-2F15-49A6-BE96-A05E807567CD}" type="slidenum">
              <a:rPr lang="en-US" smtClean="0"/>
              <a:t>‹#›</a:t>
            </a:fld>
            <a:endParaRPr lang="en-US"/>
          </a:p>
        </p:txBody>
      </p:sp>
    </p:spTree>
    <p:extLst>
      <p:ext uri="{BB962C8B-B14F-4D97-AF65-F5344CB8AC3E}">
        <p14:creationId xmlns:p14="http://schemas.microsoft.com/office/powerpoint/2010/main" val="199944001"/>
      </p:ext>
    </p:extLst>
  </p:cSld>
  <p:clrMap bg1="lt1" tx1="dk1" bg2="lt2" tx2="dk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 id="2147483877" r:id="rId12"/>
    <p:sldLayoutId id="2147483878" r:id="rId13"/>
    <p:sldLayoutId id="2147483879" r:id="rId14"/>
    <p:sldLayoutId id="2147483880" r:id="rId15"/>
    <p:sldLayoutId id="2147483881" r:id="rId16"/>
  </p:sldLayoutIdLst>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9697" y="535576"/>
            <a:ext cx="10061412" cy="5150449"/>
          </a:xfrm>
          <a:prstGeom prst="rect">
            <a:avLst/>
          </a:prstGeom>
        </p:spPr>
        <p:txBody>
          <a:bodyPr wrap="square">
            <a:spAutoFit/>
          </a:bodyPr>
          <a:lstStyle/>
          <a:p>
            <a:pPr algn="ctr">
              <a:lnSpc>
                <a:spcPct val="200000"/>
              </a:lnSpc>
            </a:pPr>
            <a:r>
              <a:rPr lang="en-US" sz="2400" dirty="0" smtClean="0">
                <a:latin typeface="Times New Roman" panose="02020603050405020304" pitchFamily="18" charset="0"/>
                <a:cs typeface="Times New Roman" panose="02020603050405020304" pitchFamily="18" charset="0"/>
              </a:rPr>
              <a:t>5</a:t>
            </a:r>
            <a:r>
              <a:rPr lang="en-US" sz="2400" baseline="30000" dirty="0" smtClean="0">
                <a:latin typeface="Times New Roman" panose="02020603050405020304" pitchFamily="18" charset="0"/>
                <a:cs typeface="Times New Roman" panose="02020603050405020304" pitchFamily="18" charset="0"/>
              </a:rPr>
              <a:t>th</a:t>
            </a:r>
            <a:r>
              <a:rPr lang="en-US" sz="2400" dirty="0" smtClean="0">
                <a:latin typeface="Times New Roman" panose="02020603050405020304" pitchFamily="18" charset="0"/>
                <a:cs typeface="Times New Roman" panose="02020603050405020304" pitchFamily="18" charset="0"/>
              </a:rPr>
              <a:t> Biennial </a:t>
            </a:r>
            <a:r>
              <a:rPr lang="en-US" sz="2400" dirty="0">
                <a:latin typeface="Times New Roman" panose="02020603050405020304" pitchFamily="18" charset="0"/>
                <a:cs typeface="Times New Roman" panose="02020603050405020304" pitchFamily="18" charset="0"/>
              </a:rPr>
              <a:t>I</a:t>
            </a:r>
            <a:r>
              <a:rPr lang="en-US" sz="2400" dirty="0" smtClean="0">
                <a:latin typeface="Times New Roman" panose="02020603050405020304" pitchFamily="18" charset="0"/>
                <a:cs typeface="Times New Roman" panose="02020603050405020304" pitchFamily="18" charset="0"/>
              </a:rPr>
              <a:t>nternational </a:t>
            </a:r>
            <a:r>
              <a:rPr lang="en-US" sz="2400" dirty="0">
                <a:latin typeface="Times New Roman" panose="02020603050405020304" pitchFamily="18" charset="0"/>
                <a:cs typeface="Times New Roman" panose="02020603050405020304" pitchFamily="18" charset="0"/>
              </a:rPr>
              <a:t>C</a:t>
            </a:r>
            <a:r>
              <a:rPr lang="en-US" sz="2400" dirty="0" smtClean="0">
                <a:latin typeface="Times New Roman" panose="02020603050405020304" pitchFamily="18" charset="0"/>
                <a:cs typeface="Times New Roman" panose="02020603050405020304" pitchFamily="18" charset="0"/>
              </a:rPr>
              <a:t>onference Paper (Faculty of Arts, University of Ibadan, Nigeria)</a:t>
            </a:r>
          </a:p>
          <a:p>
            <a:pPr marL="571500" indent="-571500">
              <a:lnSpc>
                <a:spcPct val="20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Title: MORPHOLOGICAL INDUCTION OF IGBO WORDS</a:t>
            </a:r>
          </a:p>
          <a:p>
            <a:pPr marL="571500" indent="-571500">
              <a:lnSpc>
                <a:spcPct val="20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Presenters: </a:t>
            </a:r>
          </a:p>
          <a:p>
            <a:pPr marL="571500" indent="-571500">
              <a:lnSpc>
                <a:spcPct val="200000"/>
              </a:lnSpc>
              <a:buFont typeface="Arial" panose="020B0604020202020204" pitchFamily="34" charset="0"/>
              <a:buChar char="•"/>
            </a:pPr>
            <a:r>
              <a:rPr lang="en-US" sz="2400" dirty="0" err="1" smtClean="0">
                <a:latin typeface="Times New Roman" panose="02020603050405020304" pitchFamily="18" charset="0"/>
                <a:cs typeface="Times New Roman" panose="02020603050405020304" pitchFamily="18" charset="0"/>
              </a:rPr>
              <a:t>Emeka</a:t>
            </a:r>
            <a:r>
              <a:rPr lang="en-US" sz="2400" dirty="0" smtClean="0">
                <a:latin typeface="Times New Roman" panose="02020603050405020304" pitchFamily="18" charset="0"/>
                <a:cs typeface="Times New Roman" panose="02020603050405020304" pitchFamily="18" charset="0"/>
              </a:rPr>
              <a:t> Augustine Ugwumgbo </a:t>
            </a:r>
          </a:p>
          <a:p>
            <a:pPr algn="ctr">
              <a:lnSpc>
                <a:spcPct val="200000"/>
              </a:lnSpc>
            </a:pPr>
            <a:r>
              <a:rPr lang="en-US" sz="2400" dirty="0" smtClean="0">
                <a:latin typeface="Times New Roman" panose="02020603050405020304" pitchFamily="18" charset="0"/>
                <a:cs typeface="Times New Roman" panose="02020603050405020304" pitchFamily="18" charset="0"/>
              </a:rPr>
              <a:t>and </a:t>
            </a:r>
          </a:p>
          <a:p>
            <a:pPr marL="571500" indent="-571500">
              <a:lnSpc>
                <a:spcPct val="200000"/>
              </a:lnSpc>
              <a:buFont typeface="Arial" panose="020B0604020202020204" pitchFamily="34" charset="0"/>
              <a:buChar char="•"/>
            </a:pPr>
            <a:r>
              <a:rPr lang="en-US" sz="2400" dirty="0" err="1" smtClean="0">
                <a:latin typeface="Times New Roman" panose="02020603050405020304" pitchFamily="18" charset="0"/>
                <a:cs typeface="Times New Roman" panose="02020603050405020304" pitchFamily="18" charset="0"/>
              </a:rPr>
              <a:t>Okechukwu</a:t>
            </a:r>
            <a:r>
              <a:rPr lang="en-US" sz="2400" dirty="0" smtClean="0">
                <a:latin typeface="Times New Roman" panose="02020603050405020304" pitchFamily="18" charset="0"/>
                <a:cs typeface="Times New Roman" panose="02020603050405020304" pitchFamily="18" charset="0"/>
              </a:rPr>
              <a:t> Gerald </a:t>
            </a:r>
            <a:r>
              <a:rPr lang="en-US" sz="2400" dirty="0" err="1" smtClean="0">
                <a:latin typeface="Times New Roman" panose="02020603050405020304" pitchFamily="18" charset="0"/>
                <a:cs typeface="Times New Roman" panose="02020603050405020304" pitchFamily="18" charset="0"/>
              </a:rPr>
              <a:t>Nweya</a:t>
            </a:r>
            <a:endParaRPr lang="en-US" sz="24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6944487"/>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1000"/>
                                  </p:stCondLst>
                                  <p:childTnLst>
                                    <p:set>
                                      <p:cBhvr>
                                        <p:cTn id="6" dur="1" fill="hold">
                                          <p:stCondLst>
                                            <p:cond delay="1999"/>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8012" y="474843"/>
            <a:ext cx="11390811" cy="5955926"/>
          </a:xfrm>
          <a:prstGeom prst="rect">
            <a:avLst/>
          </a:prstGeom>
        </p:spPr>
        <p:txBody>
          <a:bodyPr wrap="square">
            <a:spAutoFit/>
          </a:bodyPr>
          <a:lstStyle/>
          <a:p>
            <a:pPr algn="ctr">
              <a:lnSpc>
                <a:spcPct val="200000"/>
              </a:lnSpc>
            </a:pPr>
            <a:r>
              <a:rPr lang="en-US" sz="3200" dirty="0" smtClean="0">
                <a:latin typeface="Times New Roman" panose="02020603050405020304" pitchFamily="18" charset="0"/>
                <a:cs typeface="Times New Roman" panose="02020603050405020304" pitchFamily="18" charset="0"/>
              </a:rPr>
              <a:t>INTRODUCTION:</a:t>
            </a:r>
          </a:p>
          <a:p>
            <a:pPr marL="571500" indent="-571500">
              <a:lnSpc>
                <a:spcPct val="200000"/>
              </a:lnSpc>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A major force driving the hunt for language data and its preservation globally is the fear of language endangerment. </a:t>
            </a:r>
          </a:p>
          <a:p>
            <a:pPr marL="571500" indent="-571500">
              <a:lnSpc>
                <a:spcPct val="200000"/>
              </a:lnSpc>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So many African languages are at the high risk of endangerment.</a:t>
            </a:r>
          </a:p>
          <a:p>
            <a:pPr marL="571500" indent="-571500">
              <a:lnSpc>
                <a:spcPct val="200000"/>
              </a:lnSpc>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With growth in digital life at this age, there is a growing interest in African language preservation and technology</a:t>
            </a:r>
            <a:r>
              <a:rPr lang="en-US" sz="3600" dirty="0" smtClean="0">
                <a:latin typeface="Times New Roman" panose="02020603050405020304" pitchFamily="18" charset="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2723371"/>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9323" y="930270"/>
            <a:ext cx="11506424" cy="4866717"/>
          </a:xfrm>
          <a:prstGeom prst="rect">
            <a:avLst/>
          </a:prstGeom>
        </p:spPr>
        <p:txBody>
          <a:bodyPr wrap="square">
            <a:spAutoFit/>
          </a:bodyPr>
          <a:lstStyle/>
          <a:p>
            <a:pPr marL="571500" indent="-571500">
              <a:lnSpc>
                <a:spcPct val="200000"/>
              </a:lnSpc>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This research anticipates that the next big stage for African languages after data mining, farming, and preservation will be Afro-centered computational methods and cutting edge technologies for data manipulation and processing of African language datasets.</a:t>
            </a:r>
          </a:p>
        </p:txBody>
      </p:sp>
    </p:spTree>
    <p:extLst>
      <p:ext uri="{BB962C8B-B14F-4D97-AF65-F5344CB8AC3E}">
        <p14:creationId xmlns:p14="http://schemas.microsoft.com/office/powerpoint/2010/main" val="2122847794"/>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7529" y="239283"/>
            <a:ext cx="11197839" cy="6863417"/>
          </a:xfrm>
          <a:prstGeom prst="rect">
            <a:avLst/>
          </a:prstGeom>
        </p:spPr>
        <p:txBody>
          <a:bodyPr wrap="square">
            <a:spAutoFit/>
          </a:bodyPr>
          <a:lstStyle/>
          <a:p>
            <a:pPr algn="ctr">
              <a:lnSpc>
                <a:spcPct val="200000"/>
              </a:lnSpc>
            </a:pPr>
            <a:r>
              <a:rPr lang="en-US" sz="2400" dirty="0">
                <a:latin typeface="Times New Roman" panose="02020603050405020304" pitchFamily="18" charset="0"/>
                <a:cs typeface="Times New Roman" panose="02020603050405020304" pitchFamily="18" charset="0"/>
              </a:rPr>
              <a:t>Statement of the problem: </a:t>
            </a:r>
          </a:p>
          <a:p>
            <a:pPr marL="571500" indent="-571500" algn="just">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While there are works in Computational Linguistics that have investigated African languages, like </a:t>
            </a:r>
            <a:r>
              <a:rPr lang="en-US" sz="2400" dirty="0" err="1">
                <a:latin typeface="Times New Roman" panose="02020603050405020304" pitchFamily="18" charset="0"/>
                <a:cs typeface="Times New Roman" panose="02020603050405020304" pitchFamily="18" charset="0"/>
              </a:rPr>
              <a:t>Iheanetu</a:t>
            </a:r>
            <a:r>
              <a:rPr lang="en-US" sz="2400" dirty="0">
                <a:latin typeface="Times New Roman" panose="02020603050405020304" pitchFamily="18" charset="0"/>
                <a:cs typeface="Times New Roman" panose="02020603050405020304" pitchFamily="18" charset="0"/>
              </a:rPr>
              <a:t>, (2015), </a:t>
            </a:r>
            <a:r>
              <a:rPr lang="en-US" sz="2400" dirty="0" err="1">
                <a:latin typeface="Times New Roman" panose="02020603050405020304" pitchFamily="18" charset="0"/>
                <a:cs typeface="Times New Roman" panose="02020603050405020304" pitchFamily="18" charset="0"/>
              </a:rPr>
              <a:t>Adegbola</a:t>
            </a:r>
            <a:r>
              <a:rPr lang="en-US" sz="2400" dirty="0">
                <a:latin typeface="Times New Roman" panose="02020603050405020304" pitchFamily="18" charset="0"/>
                <a:cs typeface="Times New Roman" panose="02020603050405020304" pitchFamily="18" charset="0"/>
              </a:rPr>
              <a:t> (2016, and 2020), </a:t>
            </a:r>
            <a:r>
              <a:rPr lang="en-US" sz="2400" dirty="0" err="1">
                <a:latin typeface="Times New Roman" panose="02020603050405020304" pitchFamily="18" charset="0"/>
                <a:cs typeface="Times New Roman" panose="02020603050405020304" pitchFamily="18" charset="0"/>
              </a:rPr>
              <a:t>Iheanetu</a:t>
            </a:r>
            <a:r>
              <a:rPr lang="en-US" sz="2400" dirty="0">
                <a:latin typeface="Times New Roman" panose="02020603050405020304" pitchFamily="18" charset="0"/>
                <a:cs typeface="Times New Roman" panose="02020603050405020304" pitchFamily="18" charset="0"/>
              </a:rPr>
              <a:t>, et al., (2017), </a:t>
            </a:r>
            <a:r>
              <a:rPr lang="en-US" sz="2400" dirty="0" err="1">
                <a:latin typeface="Times New Roman" panose="02020603050405020304" pitchFamily="18" charset="0"/>
                <a:cs typeface="Times New Roman" panose="02020603050405020304" pitchFamily="18" charset="0"/>
              </a:rPr>
              <a:t>Iheanetuet</a:t>
            </a:r>
            <a:r>
              <a:rPr lang="en-US" sz="2400" dirty="0">
                <a:latin typeface="Times New Roman" panose="02020603050405020304" pitchFamily="18" charset="0"/>
                <a:cs typeface="Times New Roman" panose="02020603050405020304" pitchFamily="18" charset="0"/>
              </a:rPr>
              <a:t> al., (2019), </a:t>
            </a:r>
            <a:r>
              <a:rPr lang="en-US" sz="2400" dirty="0" err="1">
                <a:latin typeface="Times New Roman" panose="02020603050405020304" pitchFamily="18" charset="0"/>
                <a:cs typeface="Times New Roman" panose="02020603050405020304" pitchFamily="18" charset="0"/>
              </a:rPr>
              <a:t>Ezeani</a:t>
            </a:r>
            <a:r>
              <a:rPr lang="en-US" sz="2400" dirty="0">
                <a:latin typeface="Times New Roman" panose="02020603050405020304" pitchFamily="18" charset="0"/>
                <a:cs typeface="Times New Roman" panose="02020603050405020304" pitchFamily="18" charset="0"/>
              </a:rPr>
              <a:t>, et al., (2020), and </a:t>
            </a:r>
            <a:r>
              <a:rPr lang="en-US" sz="2400" dirty="0" err="1">
                <a:latin typeface="Times New Roman" panose="02020603050405020304" pitchFamily="18" charset="0"/>
                <a:cs typeface="Times New Roman" panose="02020603050405020304" pitchFamily="18" charset="0"/>
              </a:rPr>
              <a:t>Onyenwe</a:t>
            </a:r>
            <a:r>
              <a:rPr lang="en-US" sz="2400" dirty="0">
                <a:latin typeface="Times New Roman" panose="02020603050405020304" pitchFamily="18" charset="0"/>
                <a:cs typeface="Times New Roman" panose="02020603050405020304" pitchFamily="18" charset="0"/>
              </a:rPr>
              <a:t>, et al., (2019), a lot is yet undone</a:t>
            </a:r>
            <a:r>
              <a:rPr lang="en-US" sz="2400" dirty="0" smtClean="0">
                <a:latin typeface="Times New Roman" panose="02020603050405020304" pitchFamily="18" charset="0"/>
                <a:cs typeface="Times New Roman" panose="02020603050405020304" pitchFamily="18" charset="0"/>
              </a:rPr>
              <a:t>.</a:t>
            </a:r>
          </a:p>
          <a:p>
            <a:pPr marL="571500" indent="-571500" algn="just">
              <a:lnSpc>
                <a:spcPct val="200000"/>
              </a:lnSpc>
              <a:buFont typeface="Arial" panose="020B0604020202020204" pitchFamily="34" charset="0"/>
              <a:buChar char="•"/>
            </a:pPr>
            <a:r>
              <a:rPr lang="en-GB" sz="2400" dirty="0" err="1">
                <a:latin typeface="Times New Roman" panose="02020603050405020304" pitchFamily="18" charset="0"/>
                <a:cs typeface="Times New Roman" panose="02020603050405020304" pitchFamily="18" charset="0"/>
              </a:rPr>
              <a:t>Iheanetu</a:t>
            </a:r>
            <a:r>
              <a:rPr lang="en-GB" sz="2400" dirty="0">
                <a:latin typeface="Times New Roman" panose="02020603050405020304" pitchFamily="18" charset="0"/>
                <a:cs typeface="Times New Roman" panose="02020603050405020304" pitchFamily="18" charset="0"/>
              </a:rPr>
              <a:t> (2015) has succeeded to some extent in automatically extracting Igbo word formation processes: Prefix, suffix, infix, reduplication, </a:t>
            </a:r>
            <a:r>
              <a:rPr lang="en-GB" sz="2400" dirty="0" err="1">
                <a:latin typeface="Times New Roman" panose="02020603050405020304" pitchFamily="18" charset="0"/>
                <a:cs typeface="Times New Roman" panose="02020603050405020304" pitchFamily="18" charset="0"/>
              </a:rPr>
              <a:t>interfix</a:t>
            </a:r>
            <a:r>
              <a:rPr lang="en-GB" sz="2400" dirty="0">
                <a:latin typeface="Times New Roman" panose="02020603050405020304" pitchFamily="18" charset="0"/>
                <a:cs typeface="Times New Roman" panose="02020603050405020304" pitchFamily="18" charset="0"/>
              </a:rPr>
              <a:t> etc., using Word Label (WL) computational approach.</a:t>
            </a:r>
          </a:p>
          <a:p>
            <a:pPr algn="just">
              <a:lnSpc>
                <a:spcPct val="200000"/>
              </a:lnSpc>
            </a:pP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2330353"/>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5835" y="1461329"/>
            <a:ext cx="11562460" cy="3539430"/>
          </a:xfrm>
          <a:prstGeom prst="rect">
            <a:avLst/>
          </a:prstGeom>
        </p:spPr>
        <p:txBody>
          <a:bodyPr wrap="square">
            <a:spAutoFit/>
          </a:bodyPr>
          <a:lstStyle/>
          <a:p>
            <a:pPr marL="571500" indent="-571500">
              <a:lnSpc>
                <a:spcPct val="200000"/>
              </a:lnSpc>
              <a:buFont typeface="Arial" panose="020B0604020202020204" pitchFamily="34" charset="0"/>
              <a:buChar char="•"/>
            </a:pPr>
            <a:r>
              <a:rPr lang="en-US" sz="2800" dirty="0" smtClean="0">
                <a:solidFill>
                  <a:srgbClr val="000000"/>
                </a:solidFill>
                <a:latin typeface="Times New Roman" panose="02020603050405020304" pitchFamily="18" charset="0"/>
                <a:cs typeface="Times New Roman" panose="02020603050405020304" pitchFamily="18" charset="0"/>
              </a:rPr>
              <a:t>Word Label (WL) </a:t>
            </a:r>
            <a:r>
              <a:rPr lang="en-US" sz="2800" dirty="0">
                <a:solidFill>
                  <a:srgbClr val="000000"/>
                </a:solidFill>
                <a:latin typeface="Times New Roman" panose="02020603050405020304" pitchFamily="18" charset="0"/>
                <a:cs typeface="Times New Roman" panose="02020603050405020304" pitchFamily="18" charset="0"/>
              </a:rPr>
              <a:t>is a textual proxy of the pattern of arrangements of consonants and vowels in a word (</a:t>
            </a:r>
            <a:r>
              <a:rPr lang="en-US" sz="2800" dirty="0" err="1">
                <a:solidFill>
                  <a:srgbClr val="000000"/>
                </a:solidFill>
                <a:latin typeface="Times New Roman" panose="02020603050405020304" pitchFamily="18" charset="0"/>
                <a:cs typeface="Times New Roman" panose="02020603050405020304" pitchFamily="18" charset="0"/>
              </a:rPr>
              <a:t>Iheanetu</a:t>
            </a:r>
            <a:r>
              <a:rPr lang="en-US" sz="2800" dirty="0">
                <a:solidFill>
                  <a:srgbClr val="000000"/>
                </a:solidFill>
                <a:latin typeface="Times New Roman" panose="02020603050405020304" pitchFamily="18" charset="0"/>
                <a:cs typeface="Times New Roman" panose="02020603050405020304" pitchFamily="18" charset="0"/>
              </a:rPr>
              <a:t>, 2015) (</a:t>
            </a:r>
            <a:r>
              <a:rPr lang="en-US" sz="2800" dirty="0" err="1">
                <a:solidFill>
                  <a:srgbClr val="000000"/>
                </a:solidFill>
                <a:latin typeface="Times New Roman" panose="02020603050405020304" pitchFamily="18" charset="0"/>
                <a:cs typeface="Times New Roman" panose="02020603050405020304" pitchFamily="18" charset="0"/>
              </a:rPr>
              <a:t>eg</a:t>
            </a:r>
            <a:r>
              <a:rPr lang="en-US" sz="2800" dirty="0">
                <a:solidFill>
                  <a:srgbClr val="000000"/>
                </a:solidFill>
                <a:latin typeface="Times New Roman" panose="02020603050405020304" pitchFamily="18" charset="0"/>
                <a:cs typeface="Times New Roman" panose="02020603050405020304" pitchFamily="18" charset="0"/>
              </a:rPr>
              <a:t>. </a:t>
            </a:r>
            <a:r>
              <a:rPr lang="en-US" sz="2800" dirty="0" err="1">
                <a:solidFill>
                  <a:srgbClr val="000000"/>
                </a:solidFill>
                <a:latin typeface="Times New Roman" panose="02020603050405020304" pitchFamily="18" charset="0"/>
                <a:cs typeface="Times New Roman" panose="02020603050405020304" pitchFamily="18" charset="0"/>
              </a:rPr>
              <a:t>Gara</a:t>
            </a:r>
            <a:r>
              <a:rPr lang="en-US" sz="2800" dirty="0">
                <a:solidFill>
                  <a:srgbClr val="000000"/>
                </a:solidFill>
                <a:latin typeface="Times New Roman" panose="02020603050405020304" pitchFamily="18" charset="0"/>
                <a:cs typeface="Times New Roman" panose="02020603050405020304" pitchFamily="18" charset="0"/>
              </a:rPr>
              <a:t> (went)= C0V0C1V0</a:t>
            </a:r>
            <a:r>
              <a:rPr lang="en-US" sz="2800" dirty="0" smtClean="0">
                <a:solidFill>
                  <a:srgbClr val="000000"/>
                </a:solidFill>
                <a:latin typeface="Times New Roman" panose="02020603050405020304" pitchFamily="18" charset="0"/>
                <a:cs typeface="Times New Roman" panose="02020603050405020304" pitchFamily="18" charset="0"/>
              </a:rPr>
              <a:t>).</a:t>
            </a:r>
          </a:p>
          <a:p>
            <a:pPr marL="571500" indent="-571500">
              <a:lnSpc>
                <a:spcPct val="200000"/>
              </a:lnSpc>
              <a:buFont typeface="Arial" panose="020B0604020202020204" pitchFamily="34" charset="0"/>
              <a:buChar char="•"/>
            </a:pPr>
            <a:r>
              <a:rPr lang="en-GB" sz="2800" dirty="0">
                <a:latin typeface="Times New Roman" panose="02020603050405020304" pitchFamily="18" charset="0"/>
                <a:cs typeface="Times New Roman" panose="02020603050405020304" pitchFamily="18" charset="0"/>
              </a:rPr>
              <a:t>The WL worked but some knowledge gaps were discovered.</a:t>
            </a:r>
          </a:p>
        </p:txBody>
      </p:sp>
    </p:spTree>
    <p:extLst>
      <p:ext uri="{BB962C8B-B14F-4D97-AF65-F5344CB8AC3E}">
        <p14:creationId xmlns:p14="http://schemas.microsoft.com/office/powerpoint/2010/main" val="2710587565"/>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72426" y="726571"/>
            <a:ext cx="10254953" cy="5262979"/>
          </a:xfrm>
          <a:prstGeom prst="rect">
            <a:avLst/>
          </a:prstGeom>
        </p:spPr>
        <p:txBody>
          <a:bodyPr wrap="square">
            <a:spAutoFit/>
          </a:bodyPr>
          <a:lstStyle/>
          <a:p>
            <a:pPr marL="571500" indent="-571500">
              <a:lnSpc>
                <a:spcPct val="200000"/>
              </a:lnSpc>
              <a:buFont typeface="Arial" panose="020B0604020202020204" pitchFamily="34" charset="0"/>
              <a:buChar char="•"/>
            </a:pPr>
            <a:r>
              <a:rPr lang="en-GB" sz="2800" dirty="0" smtClean="0">
                <a:latin typeface="Times New Roman" panose="02020603050405020304" pitchFamily="18" charset="0"/>
                <a:cs typeface="Times New Roman" panose="02020603050405020304" pitchFamily="18" charset="0"/>
              </a:rPr>
              <a:t>No</a:t>
            </a:r>
            <a:r>
              <a:rPr lang="en-US" sz="28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research known to the author has refined the WL such </a:t>
            </a:r>
            <a:r>
              <a:rPr lang="en-US" sz="28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that:</a:t>
            </a:r>
          </a:p>
          <a:p>
            <a:pPr marL="571500" indent="-571500">
              <a:lnSpc>
                <a:spcPct val="200000"/>
              </a:lnSpc>
              <a:buFont typeface="Arial" panose="020B0604020202020204" pitchFamily="34" charset="0"/>
              <a:buChar char="•"/>
            </a:pPr>
            <a:r>
              <a:rPr lang="en-US" sz="28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 given WL </a:t>
            </a:r>
            <a:r>
              <a:rPr lang="en-US" sz="2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is for this/these process (</a:t>
            </a:r>
            <a:r>
              <a:rPr lang="en-US" sz="2800" dirty="0" err="1"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es</a:t>
            </a:r>
            <a:r>
              <a:rPr lang="en-US" sz="28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eg</a:t>
            </a:r>
            <a:r>
              <a:rPr lang="en-US" sz="28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enyemaka</a:t>
            </a:r>
            <a:r>
              <a:rPr lang="en-US" sz="2800" dirty="0" smtClean="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and </a:t>
            </a:r>
            <a:r>
              <a:rPr lang="en-US" sz="2800" dirty="0" err="1">
                <a:latin typeface="Times New Roman" panose="02020603050405020304" pitchFamily="18" charset="0"/>
                <a:cs typeface="Times New Roman" panose="02020603050405020304" pitchFamily="18" charset="0"/>
              </a:rPr>
              <a:t>azụmahịa</a:t>
            </a:r>
            <a:r>
              <a:rPr lang="en-US" sz="2800" dirty="0">
                <a:latin typeface="Times New Roman" panose="02020603050405020304" pitchFamily="18" charset="0"/>
                <a:cs typeface="Times New Roman" panose="02020603050405020304" pitchFamily="18" charset="0"/>
              </a:rPr>
              <a:t>, produced by the same morphological process - </a:t>
            </a:r>
            <a:r>
              <a:rPr lang="en-US" sz="2800" dirty="0" err="1">
                <a:latin typeface="Times New Roman" panose="02020603050405020304" pitchFamily="18" charset="0"/>
                <a:cs typeface="Times New Roman" panose="02020603050405020304" pitchFamily="18" charset="0"/>
              </a:rPr>
              <a:t>circumfixation</a:t>
            </a:r>
            <a:r>
              <a:rPr lang="en-US" sz="2800" dirty="0">
                <a:latin typeface="Times New Roman" panose="02020603050405020304" pitchFamily="18" charset="0"/>
                <a:cs typeface="Times New Roman" panose="02020603050405020304" pitchFamily="18" charset="0"/>
              </a:rPr>
              <a:t>, share the same morphological structure – Prefix-Root1-Circumfix-Root2, but produced different word labels - V0C0V0C1V1C2V1 and </a:t>
            </a:r>
            <a:r>
              <a:rPr lang="en-US" sz="2800" dirty="0" smtClean="0">
                <a:latin typeface="Times New Roman" panose="02020603050405020304" pitchFamily="18" charset="0"/>
                <a:cs typeface="Times New Roman" panose="02020603050405020304" pitchFamily="18" charset="0"/>
              </a:rPr>
              <a:t>V0C0V0C1V1C2V1V2)</a:t>
            </a:r>
            <a:r>
              <a:rPr lang="en-US" sz="28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4028550020"/>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80217" y="868028"/>
            <a:ext cx="11203536" cy="3785652"/>
          </a:xfrm>
          <a:prstGeom prst="rect">
            <a:avLst/>
          </a:prstGeom>
        </p:spPr>
        <p:txBody>
          <a:bodyPr wrap="square">
            <a:spAutoFit/>
          </a:bodyPr>
          <a:lstStyle/>
          <a:p>
            <a:pPr marL="571500" indent="-571500" algn="just">
              <a:lnSpc>
                <a:spcPct val="200000"/>
              </a:lnSpc>
              <a:buFont typeface="Arial" panose="020B0604020202020204" pitchFamily="34" charset="0"/>
              <a:buChar char="•"/>
            </a:pP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a:t>
            </a:r>
            <a:r>
              <a:rPr lang="en-US" sz="24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given morphological process </a:t>
            </a:r>
            <a:r>
              <a:rPr lang="en-US" sz="24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has different </a:t>
            </a:r>
            <a:r>
              <a:rPr lang="en-US" sz="24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word label(s) (</a:t>
            </a:r>
            <a:r>
              <a:rPr lang="en-US" sz="2400" dirty="0">
                <a:latin typeface="Times New Roman" panose="02020603050405020304" pitchFamily="18" charset="0"/>
                <a:cs typeface="Times New Roman" panose="02020603050405020304" pitchFamily="18" charset="0"/>
              </a:rPr>
              <a:t>The WL cluster V0C0V1C0V2  represents such words as </a:t>
            </a:r>
            <a:r>
              <a:rPr lang="en-US" sz="2400" dirty="0" err="1">
                <a:latin typeface="Times New Roman" panose="02020603050405020304" pitchFamily="18" charset="0"/>
                <a:cs typeface="Times New Roman" panose="02020603050405020304" pitchFamily="18" charset="0"/>
              </a:rPr>
              <a:t>ayịyọ</a:t>
            </a:r>
            <a:r>
              <a:rPr lang="en-US" sz="2400" dirty="0">
                <a:latin typeface="Times New Roman" panose="02020603050405020304" pitchFamily="18" charset="0"/>
                <a:cs typeface="Times New Roman" panose="02020603050405020304" pitchFamily="18" charset="0"/>
              </a:rPr>
              <a:t>, which is a products of different morphological </a:t>
            </a:r>
            <a:r>
              <a:rPr lang="en-US" sz="2400" dirty="0" smtClean="0">
                <a:latin typeface="Times New Roman" panose="02020603050405020304" pitchFamily="18" charset="0"/>
                <a:cs typeface="Times New Roman" panose="02020603050405020304" pitchFamily="18" charset="0"/>
              </a:rPr>
              <a:t>process reduplication, </a:t>
            </a:r>
            <a:r>
              <a:rPr lang="en-US" sz="2400" dirty="0">
                <a:latin typeface="Times New Roman" panose="02020603050405020304" pitchFamily="18" charset="0"/>
                <a:cs typeface="Times New Roman" panose="02020603050405020304" pitchFamily="18" charset="0"/>
              </a:rPr>
              <a:t>but </a:t>
            </a:r>
            <a:r>
              <a:rPr lang="en-US" sz="2400" dirty="0" smtClean="0">
                <a:latin typeface="Times New Roman" panose="02020603050405020304" pitchFamily="18" charset="0"/>
                <a:cs typeface="Times New Roman" panose="02020603050405020304" pitchFamily="18" charset="0"/>
              </a:rPr>
              <a:t>it is </a:t>
            </a:r>
            <a:r>
              <a:rPr lang="en-US" sz="2400" dirty="0">
                <a:latin typeface="Times New Roman" panose="02020603050405020304" pitchFamily="18" charset="0"/>
                <a:cs typeface="Times New Roman" panose="02020603050405020304" pitchFamily="18" charset="0"/>
              </a:rPr>
              <a:t>clustered together with </a:t>
            </a:r>
            <a:r>
              <a:rPr lang="en-US" sz="2400" dirty="0" err="1">
                <a:latin typeface="Times New Roman" panose="02020603050405020304" pitchFamily="18" charset="0"/>
                <a:cs typeface="Times New Roman" panose="02020603050405020304" pitchFamily="18" charset="0"/>
              </a:rPr>
              <a:t>aghọghị</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which </a:t>
            </a:r>
            <a:r>
              <a:rPr lang="en-US" sz="2400" dirty="0">
                <a:latin typeface="Times New Roman" panose="02020603050405020304" pitchFamily="18" charset="0"/>
                <a:cs typeface="Times New Roman" panose="02020603050405020304" pitchFamily="18" charset="0"/>
              </a:rPr>
              <a:t>results from the inflection of the verb -</a:t>
            </a:r>
            <a:r>
              <a:rPr lang="en-US" sz="2400" dirty="0" err="1">
                <a:latin typeface="Times New Roman" panose="02020603050405020304" pitchFamily="18" charset="0"/>
                <a:cs typeface="Times New Roman" panose="02020603050405020304" pitchFamily="18" charset="0"/>
              </a:rPr>
              <a:t>ghọ</a:t>
            </a:r>
            <a:r>
              <a:rPr lang="en-US" sz="2400" dirty="0">
                <a:latin typeface="Times New Roman" panose="02020603050405020304" pitchFamily="18" charset="0"/>
                <a:cs typeface="Times New Roman" panose="02020603050405020304" pitchFamily="18" charset="0"/>
              </a:rPr>
              <a:t> (be/ become), -</a:t>
            </a:r>
            <a:r>
              <a:rPr lang="en-US" sz="2400" dirty="0" err="1">
                <a:latin typeface="Times New Roman" panose="02020603050405020304" pitchFamily="18" charset="0"/>
                <a:cs typeface="Times New Roman" panose="02020603050405020304" pitchFamily="18" charset="0"/>
              </a:rPr>
              <a:t>ghị</a:t>
            </a:r>
            <a:r>
              <a:rPr lang="en-US" sz="2400" dirty="0">
                <a:latin typeface="Times New Roman" panose="02020603050405020304" pitchFamily="18" charset="0"/>
                <a:cs typeface="Times New Roman" panose="02020603050405020304" pitchFamily="18" charset="0"/>
              </a:rPr>
              <a:t> being a negation suffix in Igbo while ‘a’ is a </a:t>
            </a:r>
            <a:r>
              <a:rPr lang="en-US" sz="2400" dirty="0" smtClean="0">
                <a:latin typeface="Times New Roman" panose="02020603050405020304" pitchFamily="18" charset="0"/>
                <a:cs typeface="Times New Roman" panose="02020603050405020304" pitchFamily="18" charset="0"/>
              </a:rPr>
              <a:t>prefix, </a:t>
            </a:r>
            <a:r>
              <a:rPr lang="en-US" sz="2400" dirty="0">
                <a:latin typeface="Times New Roman" panose="02020603050405020304" pitchFamily="18" charset="0"/>
                <a:cs typeface="Times New Roman" panose="02020603050405020304" pitchFamily="18" charset="0"/>
              </a:rPr>
              <a:t>which also functions as a negating </a:t>
            </a:r>
            <a:r>
              <a:rPr lang="en-US" sz="2400" dirty="0" smtClean="0">
                <a:latin typeface="Times New Roman" panose="02020603050405020304" pitchFamily="18" charset="0"/>
                <a:cs typeface="Times New Roman" panose="02020603050405020304" pitchFamily="18" charset="0"/>
              </a:rPr>
              <a:t>prefix). </a:t>
            </a:r>
          </a:p>
        </p:txBody>
      </p:sp>
    </p:spTree>
    <p:extLst>
      <p:ext uri="{BB962C8B-B14F-4D97-AF65-F5344CB8AC3E}">
        <p14:creationId xmlns:p14="http://schemas.microsoft.com/office/powerpoint/2010/main" val="3199691023"/>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01511" y="998884"/>
            <a:ext cx="10289135" cy="4269887"/>
          </a:xfrm>
          <a:prstGeom prst="rect">
            <a:avLst/>
          </a:prstGeom>
        </p:spPr>
        <p:txBody>
          <a:bodyPr wrap="square">
            <a:spAutoFit/>
          </a:bodyPr>
          <a:lstStyle/>
          <a:p>
            <a:pPr marL="457200" indent="-457200">
              <a:lnSpc>
                <a:spcPct val="200000"/>
              </a:lnSpc>
              <a:buFont typeface="Arial" panose="020B0604020202020204" pitchFamily="34" charset="0"/>
              <a:buChar char="•"/>
            </a:pPr>
            <a:r>
              <a:rPr lang="en-US" sz="28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Other </a:t>
            </a:r>
            <a:r>
              <a:rPr lang="en-US" sz="2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areas needing attention is investigating the efficiency of WL in detecting morphological boundaries and to ascertain, which part of the word is free and which is bound </a:t>
            </a:r>
            <a:r>
              <a:rPr lang="en-US" sz="28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morpheme.</a:t>
            </a:r>
          </a:p>
          <a:p>
            <a:pPr marL="457200" indent="-457200">
              <a:lnSpc>
                <a:spcPct val="200000"/>
              </a:lnSpc>
              <a:buFont typeface="Arial" panose="020B0604020202020204" pitchFamily="34" charset="0"/>
              <a:buChar char="•"/>
            </a:pPr>
            <a:r>
              <a:rPr lang="en-GB" sz="2800" dirty="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distribution of parts of speech (POS) under a given word label and vice versa.</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38990404"/>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3125" y="393106"/>
            <a:ext cx="10075492" cy="5632311"/>
          </a:xfrm>
          <a:prstGeom prst="rect">
            <a:avLst/>
          </a:prstGeom>
        </p:spPr>
        <p:txBody>
          <a:bodyPr wrap="square">
            <a:spAutoFit/>
          </a:bodyPr>
          <a:lstStyle/>
          <a:p>
            <a:pPr>
              <a:lnSpc>
                <a:spcPct val="150000"/>
              </a:lnSpc>
            </a:pPr>
            <a:r>
              <a:rPr lang="en-US" sz="2400" b="1" dirty="0" smtClean="0">
                <a:latin typeface="Times New Roman" panose="02020603050405020304" pitchFamily="18" charset="0"/>
                <a:cs typeface="Times New Roman" panose="02020603050405020304" pitchFamily="18" charset="0"/>
              </a:rPr>
              <a:t>Aim and objectives of the study: </a:t>
            </a:r>
          </a:p>
          <a:p>
            <a:pPr marL="857250" indent="-857250">
              <a:lnSpc>
                <a:spcPct val="150000"/>
              </a:lnSpc>
              <a:buAutoNum type="romanLcPeriod"/>
            </a:pPr>
            <a:r>
              <a:rPr lang="en-US" sz="2400" b="1" dirty="0" smtClean="0">
                <a:latin typeface="Times New Roman" panose="02020603050405020304" pitchFamily="18" charset="0"/>
                <a:cs typeface="Times New Roman" panose="02020603050405020304" pitchFamily="18" charset="0"/>
              </a:rPr>
              <a:t>Determine the distribution of word labels according to the morphological process (</a:t>
            </a:r>
            <a:r>
              <a:rPr lang="en-US" sz="2400" b="1" dirty="0" err="1" smtClean="0">
                <a:latin typeface="Times New Roman" panose="02020603050405020304" pitchFamily="18" charset="0"/>
                <a:cs typeface="Times New Roman" panose="02020603050405020304" pitchFamily="18" charset="0"/>
              </a:rPr>
              <a:t>es</a:t>
            </a:r>
            <a:r>
              <a:rPr lang="en-US" sz="2400" b="1" dirty="0" smtClean="0">
                <a:latin typeface="Times New Roman" panose="02020603050405020304" pitchFamily="18" charset="0"/>
                <a:cs typeface="Times New Roman" panose="02020603050405020304" pitchFamily="18" charset="0"/>
              </a:rPr>
              <a:t>). </a:t>
            </a:r>
          </a:p>
          <a:p>
            <a:pPr marL="857250" indent="-857250">
              <a:lnSpc>
                <a:spcPct val="150000"/>
              </a:lnSpc>
              <a:buAutoNum type="romanLcPeriod"/>
            </a:pPr>
            <a:r>
              <a:rPr lang="en-US" sz="2400" b="1" dirty="0" smtClean="0">
                <a:latin typeface="Times New Roman" panose="02020603050405020304" pitchFamily="18" charset="0"/>
                <a:cs typeface="Times New Roman" panose="02020603050405020304" pitchFamily="18" charset="0"/>
              </a:rPr>
              <a:t>ii. Determine the distribution of morphological processes according to the word label.</a:t>
            </a:r>
          </a:p>
          <a:p>
            <a:pPr marL="857250" indent="-857250">
              <a:lnSpc>
                <a:spcPct val="150000"/>
              </a:lnSpc>
              <a:buAutoNum type="romanLcPeriod"/>
            </a:pPr>
            <a:r>
              <a:rPr lang="en-US" sz="2400" b="1" dirty="0" smtClean="0">
                <a:latin typeface="Times New Roman" panose="02020603050405020304" pitchFamily="18" charset="0"/>
                <a:cs typeface="Times New Roman" panose="02020603050405020304" pitchFamily="18" charset="0"/>
              </a:rPr>
              <a:t>Compare morpheme boundaries (WL vs. real Igbo morpheme boundaries). </a:t>
            </a:r>
          </a:p>
          <a:p>
            <a:pPr marL="857250" indent="-857250">
              <a:lnSpc>
                <a:spcPct val="150000"/>
              </a:lnSpc>
              <a:buAutoNum type="romanLcPeriod"/>
            </a:pPr>
            <a:r>
              <a:rPr lang="en-US" sz="2400" b="1" dirty="0" smtClean="0">
                <a:latin typeface="Times New Roman" panose="02020603050405020304" pitchFamily="18" charset="0"/>
                <a:cs typeface="Times New Roman" panose="02020603050405020304" pitchFamily="18" charset="0"/>
              </a:rPr>
              <a:t>Determine the distribution of parts of speech (POS) by morphological process. </a:t>
            </a:r>
          </a:p>
          <a:p>
            <a:pPr>
              <a:lnSpc>
                <a:spcPct val="150000"/>
              </a:lnSpc>
            </a:pPr>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9071884"/>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09301" y="249929"/>
            <a:ext cx="10968894" cy="6370975"/>
          </a:xfrm>
          <a:prstGeom prst="rect">
            <a:avLst/>
          </a:prstGeom>
        </p:spPr>
        <p:txBody>
          <a:bodyPr wrap="square">
            <a:spAutoFit/>
          </a:bodyPr>
          <a:lstStyle/>
          <a:p>
            <a:pPr>
              <a:lnSpc>
                <a:spcPct val="150000"/>
              </a:lnSpc>
            </a:pPr>
            <a:r>
              <a:rPr lang="en-US" sz="2400" b="1" dirty="0" smtClean="0">
                <a:latin typeface="Times New Roman" panose="02020603050405020304" pitchFamily="18" charset="0"/>
                <a:cs typeface="Times New Roman" panose="02020603050405020304" pitchFamily="18" charset="0"/>
              </a:rPr>
              <a:t>v. Determine </a:t>
            </a:r>
            <a:r>
              <a:rPr lang="en-US" sz="2400" b="1" dirty="0">
                <a:latin typeface="Times New Roman" panose="02020603050405020304" pitchFamily="18" charset="0"/>
                <a:cs typeface="Times New Roman" panose="02020603050405020304" pitchFamily="18" charset="0"/>
              </a:rPr>
              <a:t>the distribution of POS by </a:t>
            </a:r>
            <a:r>
              <a:rPr lang="en-US" sz="2400" b="1" dirty="0" smtClean="0">
                <a:latin typeface="Times New Roman" panose="02020603050405020304" pitchFamily="18" charset="0"/>
                <a:cs typeface="Times New Roman" panose="02020603050405020304" pitchFamily="18" charset="0"/>
              </a:rPr>
              <a:t>WL.</a:t>
            </a:r>
          </a:p>
          <a:p>
            <a:pPr>
              <a:lnSpc>
                <a:spcPct val="150000"/>
              </a:lnSpc>
            </a:pPr>
            <a:r>
              <a:rPr lang="en-US" sz="2400" b="1" dirty="0" smtClean="0">
                <a:latin typeface="Times New Roman" panose="02020603050405020304" pitchFamily="18" charset="0"/>
                <a:cs typeface="Times New Roman" panose="02020603050405020304" pitchFamily="18" charset="0"/>
              </a:rPr>
              <a:t>Vi. Determine </a:t>
            </a:r>
            <a:r>
              <a:rPr lang="en-US" sz="2400" b="1" dirty="0">
                <a:latin typeface="Times New Roman" panose="02020603050405020304" pitchFamily="18" charset="0"/>
                <a:cs typeface="Times New Roman" panose="02020603050405020304" pitchFamily="18" charset="0"/>
              </a:rPr>
              <a:t>the type of morphemes and their distributions by WL.</a:t>
            </a:r>
            <a:endParaRPr lang="en-US" sz="2400" b="1" i="0" dirty="0" smtClean="0">
              <a:solidFill>
                <a:srgbClr val="000000"/>
              </a:solidFill>
              <a:effectLst/>
              <a:latin typeface="Times New Roman" panose="02020603050405020304" pitchFamily="18" charset="0"/>
              <a:cs typeface="Times New Roman" panose="02020603050405020304" pitchFamily="18" charset="0"/>
            </a:endParaRPr>
          </a:p>
          <a:p>
            <a:pPr algn="just">
              <a:lnSpc>
                <a:spcPct val="200000"/>
              </a:lnSpc>
            </a:pPr>
            <a:r>
              <a:rPr lang="en-US" sz="2400" b="1" i="0" dirty="0" smtClean="0">
                <a:solidFill>
                  <a:srgbClr val="000000"/>
                </a:solidFill>
                <a:effectLst/>
                <a:latin typeface="Times New Roman" panose="02020603050405020304" pitchFamily="18" charset="0"/>
                <a:cs typeface="Times New Roman" panose="02020603050405020304" pitchFamily="18" charset="0"/>
              </a:rPr>
              <a:t>Research Questions: </a:t>
            </a:r>
          </a:p>
          <a:p>
            <a:pPr algn="just">
              <a:lnSpc>
                <a:spcPct val="200000"/>
              </a:lnSpc>
            </a:pPr>
            <a:r>
              <a:rPr lang="en-US" sz="2400" b="1" i="0" dirty="0" err="1" smtClean="0">
                <a:solidFill>
                  <a:srgbClr val="000000"/>
                </a:solidFill>
                <a:effectLst/>
                <a:latin typeface="Times New Roman" panose="02020603050405020304" pitchFamily="18" charset="0"/>
                <a:cs typeface="Times New Roman" panose="02020603050405020304" pitchFamily="18" charset="0"/>
              </a:rPr>
              <a:t>i</a:t>
            </a:r>
            <a:r>
              <a:rPr lang="en-US" sz="2400" b="1" i="0" dirty="0" smtClean="0">
                <a:solidFill>
                  <a:srgbClr val="000000"/>
                </a:solidFill>
                <a:effectLst/>
                <a:latin typeface="Times New Roman" panose="02020603050405020304" pitchFamily="18" charset="0"/>
                <a:cs typeface="Times New Roman" panose="02020603050405020304" pitchFamily="18" charset="0"/>
              </a:rPr>
              <a:t>. What is the distribution of word labels across the morphological processes that produced them? </a:t>
            </a:r>
          </a:p>
          <a:p>
            <a:pPr algn="just">
              <a:lnSpc>
                <a:spcPct val="200000"/>
              </a:lnSpc>
            </a:pPr>
            <a:r>
              <a:rPr lang="en-US" sz="2400" b="1" i="0" dirty="0" smtClean="0">
                <a:solidFill>
                  <a:srgbClr val="000000"/>
                </a:solidFill>
                <a:effectLst/>
                <a:latin typeface="Times New Roman" panose="02020603050405020304" pitchFamily="18" charset="0"/>
                <a:cs typeface="Times New Roman" panose="02020603050405020304" pitchFamily="18" charset="0"/>
              </a:rPr>
              <a:t>ii. What is the distribution of the morphological processes according to the word label they produce? </a:t>
            </a:r>
          </a:p>
          <a:p>
            <a:pPr algn="just">
              <a:lnSpc>
                <a:spcPct val="200000"/>
              </a:lnSpc>
            </a:pPr>
            <a:r>
              <a:rPr lang="en-US" sz="2400" b="1" i="0" dirty="0" smtClean="0">
                <a:solidFill>
                  <a:srgbClr val="000000"/>
                </a:solidFill>
                <a:effectLst/>
                <a:latin typeface="Times New Roman" panose="02020603050405020304" pitchFamily="18" charset="0"/>
                <a:cs typeface="Times New Roman" panose="02020603050405020304" pitchFamily="18" charset="0"/>
              </a:rPr>
              <a:t>iii. What is the percentage accuracy of the morpheme boundaries generated by WL? </a:t>
            </a:r>
          </a:p>
        </p:txBody>
      </p:sp>
    </p:spTree>
    <p:extLst>
      <p:ext uri="{BB962C8B-B14F-4D97-AF65-F5344CB8AC3E}">
        <p14:creationId xmlns:p14="http://schemas.microsoft.com/office/powerpoint/2010/main" val="2644134662"/>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86968" y="191143"/>
            <a:ext cx="9195275" cy="5262979"/>
          </a:xfrm>
          <a:prstGeom prst="rect">
            <a:avLst/>
          </a:prstGeom>
        </p:spPr>
        <p:txBody>
          <a:bodyPr wrap="square">
            <a:spAutoFit/>
          </a:bodyPr>
          <a:lstStyle/>
          <a:p>
            <a:pPr algn="just">
              <a:lnSpc>
                <a:spcPct val="200000"/>
              </a:lnSpc>
            </a:pPr>
            <a:r>
              <a:rPr lang="en-US" sz="2800" b="1" dirty="0">
                <a:solidFill>
                  <a:srgbClr val="000000"/>
                </a:solidFill>
                <a:latin typeface="Times New Roman" panose="02020603050405020304" pitchFamily="18" charset="0"/>
                <a:cs typeface="Times New Roman" panose="02020603050405020304" pitchFamily="18" charset="0"/>
              </a:rPr>
              <a:t>iv. What is the distribution of parts of speech of Igbo words in a given morphological process? </a:t>
            </a:r>
          </a:p>
          <a:p>
            <a:pPr algn="just">
              <a:lnSpc>
                <a:spcPct val="200000"/>
              </a:lnSpc>
            </a:pPr>
            <a:r>
              <a:rPr lang="en-US" sz="2800" b="1" dirty="0">
                <a:solidFill>
                  <a:srgbClr val="000000"/>
                </a:solidFill>
                <a:latin typeface="Times New Roman" panose="02020603050405020304" pitchFamily="18" charset="0"/>
                <a:cs typeface="Times New Roman" panose="02020603050405020304" pitchFamily="18" charset="0"/>
              </a:rPr>
              <a:t>v. What is the distribution of parts of speech of Igbo words in a given WL? </a:t>
            </a:r>
          </a:p>
          <a:p>
            <a:pPr algn="just">
              <a:lnSpc>
                <a:spcPct val="200000"/>
              </a:lnSpc>
            </a:pPr>
            <a:r>
              <a:rPr lang="en-US" sz="2800" b="1" dirty="0">
                <a:solidFill>
                  <a:srgbClr val="000000"/>
                </a:solidFill>
                <a:latin typeface="Times New Roman" panose="02020603050405020304" pitchFamily="18" charset="0"/>
                <a:cs typeface="Times New Roman" panose="02020603050405020304" pitchFamily="18" charset="0"/>
              </a:rPr>
              <a:t>Vi. What type of morphemes (bound and free) are found in a given WL?</a:t>
            </a:r>
          </a:p>
        </p:txBody>
      </p:sp>
    </p:spTree>
    <p:extLst>
      <p:ext uri="{BB962C8B-B14F-4D97-AF65-F5344CB8AC3E}">
        <p14:creationId xmlns:p14="http://schemas.microsoft.com/office/powerpoint/2010/main" val="2469941243"/>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1076" y="320768"/>
            <a:ext cx="10174256" cy="5262979"/>
          </a:xfrm>
          <a:prstGeom prst="rect">
            <a:avLst/>
          </a:prstGeom>
        </p:spPr>
        <p:txBody>
          <a:bodyPr wrap="square">
            <a:spAutoFit/>
          </a:bodyPr>
          <a:lstStyle/>
          <a:p>
            <a:pPr algn="ctr">
              <a:lnSpc>
                <a:spcPct val="200000"/>
              </a:lnSpc>
            </a:pPr>
            <a:r>
              <a:rPr lang="en-US" sz="2800" dirty="0" smtClean="0">
                <a:latin typeface="Times New Roman" panose="02020603050405020304" pitchFamily="18" charset="0"/>
                <a:cs typeface="Times New Roman" panose="02020603050405020304" pitchFamily="18" charset="0"/>
              </a:rPr>
              <a:t>Significance of study: </a:t>
            </a:r>
          </a:p>
          <a:p>
            <a:pPr marL="685800" indent="-685800">
              <a:lnSpc>
                <a:spcPct val="200000"/>
              </a:lnSpc>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Computational linguistics of Igbo language</a:t>
            </a:r>
          </a:p>
          <a:p>
            <a:pPr marL="685800" indent="-685800">
              <a:lnSpc>
                <a:spcPct val="200000"/>
              </a:lnSpc>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To provide facilities such as morphological analyzer, spell checker, </a:t>
            </a:r>
            <a:r>
              <a:rPr lang="en-US" sz="2800" dirty="0">
                <a:latin typeface="Times New Roman" panose="02020603050405020304" pitchFamily="18" charset="0"/>
                <a:cs typeface="Times New Roman" panose="02020603050405020304" pitchFamily="18" charset="0"/>
              </a:rPr>
              <a:t>parts of </a:t>
            </a:r>
            <a:r>
              <a:rPr lang="en-US" sz="2800" dirty="0" smtClean="0">
                <a:latin typeface="Times New Roman" panose="02020603050405020304" pitchFamily="18" charset="0"/>
                <a:cs typeface="Times New Roman" panose="02020603050405020304" pitchFamily="18" charset="0"/>
              </a:rPr>
              <a:t>speech (POS) </a:t>
            </a:r>
            <a:r>
              <a:rPr lang="en-US" sz="2800" dirty="0">
                <a:latin typeface="Times New Roman" panose="02020603050405020304" pitchFamily="18" charset="0"/>
                <a:cs typeface="Times New Roman" panose="02020603050405020304" pitchFamily="18" charset="0"/>
              </a:rPr>
              <a:t>tagging, </a:t>
            </a:r>
            <a:r>
              <a:rPr lang="en-US" sz="2800" dirty="0" err="1">
                <a:latin typeface="Times New Roman" panose="02020603050405020304" pitchFamily="18" charset="0"/>
                <a:cs typeface="Times New Roman" panose="02020603050405020304" pitchFamily="18" charset="0"/>
              </a:rPr>
              <a:t>stylometrics</a:t>
            </a:r>
            <a:r>
              <a:rPr lang="en-US" sz="2800" dirty="0">
                <a:latin typeface="Times New Roman" panose="02020603050405020304" pitchFamily="18" charset="0"/>
                <a:cs typeface="Times New Roman" panose="02020603050405020304" pitchFamily="18" charset="0"/>
              </a:rPr>
              <a:t> etc</a:t>
            </a:r>
            <a:r>
              <a:rPr lang="en-US" sz="2800" dirty="0" smtClean="0">
                <a:latin typeface="Times New Roman" panose="02020603050405020304" pitchFamily="18" charset="0"/>
                <a:cs typeface="Times New Roman" panose="02020603050405020304" pitchFamily="18" charset="0"/>
              </a:rPr>
              <a:t>., that will enable the Igbos to function in the information age in Igbo language.</a:t>
            </a:r>
          </a:p>
        </p:txBody>
      </p:sp>
    </p:spTree>
    <p:extLst>
      <p:ext uri="{BB962C8B-B14F-4D97-AF65-F5344CB8AC3E}">
        <p14:creationId xmlns:p14="http://schemas.microsoft.com/office/powerpoint/2010/main" val="620382908"/>
      </p:ext>
    </p:extLst>
  </p:cSld>
  <p:clrMapOvr>
    <a:masterClrMapping/>
  </p:clrMapOvr>
  <mc:AlternateContent xmlns:mc="http://schemas.openxmlformats.org/markup-compatibility/2006" xmlns:p14="http://schemas.microsoft.com/office/powerpoint/2010/main">
    <mc:Choice Requires="p14">
      <p:transition spd="slow" advTm="0">
        <p14:flash/>
      </p:transition>
    </mc:Choice>
    <mc:Fallback xmlns="">
      <p:transition spd="slow" advTm="0">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66430" y="843281"/>
            <a:ext cx="8562886" cy="5262979"/>
          </a:xfrm>
          <a:prstGeom prst="rect">
            <a:avLst/>
          </a:prstGeom>
        </p:spPr>
        <p:txBody>
          <a:bodyPr wrap="square">
            <a:spAutoFit/>
          </a:bodyPr>
          <a:lstStyle/>
          <a:p>
            <a:pPr>
              <a:lnSpc>
                <a:spcPct val="200000"/>
              </a:lnSpc>
            </a:pPr>
            <a:r>
              <a:rPr lang="en-US" sz="2800" dirty="0" smtClean="0">
                <a:latin typeface="Times New Roman" panose="02020603050405020304" pitchFamily="18" charset="0"/>
                <a:cs typeface="Times New Roman" panose="02020603050405020304" pitchFamily="18" charset="0"/>
              </a:rPr>
              <a:t>Scope of study:</a:t>
            </a:r>
          </a:p>
          <a:p>
            <a:pPr marL="685800" indent="-685800">
              <a:lnSpc>
                <a:spcPct val="200000"/>
              </a:lnSpc>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a:t>
            </a:r>
            <a:r>
              <a:rPr lang="en-US" sz="2800" dirty="0" smtClean="0">
                <a:latin typeface="Times New Roman" panose="02020603050405020304" pitchFamily="18" charset="0"/>
                <a:cs typeface="Times New Roman" panose="02020603050405020304" pitchFamily="18" charset="0"/>
              </a:rPr>
              <a:t>his research is a study in the automatic induction of Igbo morphology. </a:t>
            </a:r>
          </a:p>
          <a:p>
            <a:pPr marL="685800" indent="-685800">
              <a:lnSpc>
                <a:spcPct val="200000"/>
              </a:lnSpc>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It is situated under Computational Linguistics and Language Technology, with an African language bias. </a:t>
            </a:r>
          </a:p>
        </p:txBody>
      </p:sp>
    </p:spTree>
    <p:extLst>
      <p:ext uri="{BB962C8B-B14F-4D97-AF65-F5344CB8AC3E}">
        <p14:creationId xmlns:p14="http://schemas.microsoft.com/office/powerpoint/2010/main" val="866344334"/>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86213" y="249485"/>
            <a:ext cx="10289137" cy="5632311"/>
          </a:xfrm>
          <a:prstGeom prst="rect">
            <a:avLst/>
          </a:prstGeom>
        </p:spPr>
        <p:txBody>
          <a:bodyPr wrap="square">
            <a:spAutoFit/>
          </a:bodyPr>
          <a:lstStyle/>
          <a:p>
            <a:pPr algn="ctr">
              <a:lnSpc>
                <a:spcPct val="200000"/>
              </a:lnSpc>
            </a:pPr>
            <a:r>
              <a:rPr lang="en-GB" sz="3600" dirty="0" smtClean="0">
                <a:latin typeface="Times New Roman" panose="02020603050405020304" pitchFamily="18" charset="0"/>
                <a:cs typeface="Times New Roman" panose="02020603050405020304" pitchFamily="18" charset="0"/>
              </a:rPr>
              <a:t>Scope of study:</a:t>
            </a:r>
            <a:endParaRPr lang="en-US" sz="3600" dirty="0" smtClean="0">
              <a:latin typeface="Times New Roman" panose="02020603050405020304" pitchFamily="18" charset="0"/>
              <a:cs typeface="Times New Roman" panose="02020603050405020304" pitchFamily="18" charset="0"/>
            </a:endParaRPr>
          </a:p>
          <a:p>
            <a:pPr marL="685800" indent="-685800" algn="just">
              <a:lnSpc>
                <a:spcPct val="200000"/>
              </a:lnSpc>
              <a:buFont typeface="Arial" panose="020B0604020202020204" pitchFamily="34" charset="0"/>
              <a:buChar char="•"/>
            </a:pPr>
            <a:r>
              <a:rPr lang="en-US" sz="3600" dirty="0" smtClean="0">
                <a:latin typeface="Times New Roman" panose="02020603050405020304" pitchFamily="18" charset="0"/>
                <a:cs typeface="Times New Roman" panose="02020603050405020304" pitchFamily="18" charset="0"/>
              </a:rPr>
              <a:t>Specifically</a:t>
            </a:r>
            <a:r>
              <a:rPr lang="en-US" sz="3600" dirty="0">
                <a:latin typeface="Times New Roman" panose="02020603050405020304" pitchFamily="18" charset="0"/>
                <a:cs typeface="Times New Roman" panose="02020603050405020304" pitchFamily="18" charset="0"/>
              </a:rPr>
              <a:t>, it address the challenges that may arise in using the WL as a computational tool for inducing the morphology of Igbo language.</a:t>
            </a:r>
          </a:p>
          <a:p>
            <a:pPr marL="685800" indent="-685800" algn="just">
              <a:lnSpc>
                <a:spcPct val="200000"/>
              </a:lnSpc>
              <a:buFont typeface="Arial" panose="020B0604020202020204" pitchFamily="34" charset="0"/>
              <a:buChar char="•"/>
            </a:pPr>
            <a:r>
              <a:rPr lang="en-GB" sz="3600" dirty="0">
                <a:latin typeface="Times New Roman" panose="02020603050405020304" pitchFamily="18" charset="0"/>
                <a:cs typeface="Times New Roman" panose="02020603050405020304" pitchFamily="18" charset="0"/>
              </a:rPr>
              <a:t>It is limited to Igbo computational morphology.</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6149199"/>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72845" y="601441"/>
            <a:ext cx="9600710" cy="5139869"/>
          </a:xfrm>
          <a:prstGeom prst="rect">
            <a:avLst/>
          </a:prstGeom>
        </p:spPr>
        <p:txBody>
          <a:bodyPr wrap="square">
            <a:spAutoFit/>
          </a:bodyPr>
          <a:lstStyle/>
          <a:p>
            <a:pPr algn="ctr">
              <a:lnSpc>
                <a:spcPct val="200000"/>
              </a:lnSpc>
            </a:pPr>
            <a:r>
              <a:rPr lang="en-US" sz="2400" b="1" dirty="0" smtClean="0">
                <a:latin typeface="Times New Roman" panose="02020603050405020304" pitchFamily="18" charset="0"/>
                <a:cs typeface="Times New Roman" panose="02020603050405020304" pitchFamily="18" charset="0"/>
              </a:rPr>
              <a:t>Theoretical framework: </a:t>
            </a:r>
          </a:p>
          <a:p>
            <a:pPr marL="457200" indent="-457200">
              <a:lnSpc>
                <a:spcPct val="20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Following the principles of </a:t>
            </a:r>
            <a:r>
              <a:rPr lang="en-US" sz="2000" dirty="0">
                <a:latin typeface="Times New Roman" panose="02020603050405020304" pitchFamily="18" charset="0"/>
                <a:cs typeface="Times New Roman" panose="02020603050405020304" pitchFamily="18" charset="0"/>
              </a:rPr>
              <a:t>computational and morphological theories this research investigates the efficiency of WL in detecting morpheme boundaries of Igbo </a:t>
            </a:r>
            <a:r>
              <a:rPr lang="en-US" sz="2000" dirty="0" smtClean="0">
                <a:latin typeface="Times New Roman" panose="02020603050405020304" pitchFamily="18" charset="0"/>
                <a:cs typeface="Times New Roman" panose="02020603050405020304" pitchFamily="18" charset="0"/>
              </a:rPr>
              <a:t>words, POS as well as morpheme types distributions under word labels.</a:t>
            </a:r>
            <a:endParaRPr lang="en-US" sz="2000" b="1" dirty="0" smtClean="0">
              <a:latin typeface="Times New Roman" panose="02020603050405020304" pitchFamily="18" charset="0"/>
              <a:cs typeface="Times New Roman" panose="02020603050405020304" pitchFamily="18" charset="0"/>
            </a:endParaRPr>
          </a:p>
          <a:p>
            <a:pPr marL="571500" indent="-571500">
              <a:lnSpc>
                <a:spcPct val="20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The study is privy to the existence of some morphological theories, especially classical morphological theories: Word based (word and paradigm-WP) and</a:t>
            </a:r>
          </a:p>
          <a:p>
            <a:pPr marL="571500" indent="-571500">
              <a:lnSpc>
                <a:spcPct val="20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Morpheme based (item and arrangement-IA as well as item and process-IP) morphological theories. </a:t>
            </a:r>
          </a:p>
        </p:txBody>
      </p:sp>
    </p:spTree>
    <p:extLst>
      <p:ext uri="{BB962C8B-B14F-4D97-AF65-F5344CB8AC3E}">
        <p14:creationId xmlns:p14="http://schemas.microsoft.com/office/powerpoint/2010/main" val="3778247009"/>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726250" y="348525"/>
            <a:ext cx="9605474" cy="5632311"/>
          </a:xfrm>
          <a:prstGeom prst="rect">
            <a:avLst/>
          </a:prstGeom>
        </p:spPr>
        <p:txBody>
          <a:bodyPr wrap="square">
            <a:spAutoFit/>
          </a:bodyPr>
          <a:lstStyle/>
          <a:p>
            <a:pPr algn="ctr"/>
            <a:r>
              <a:rPr lang="en-GB" sz="2400" dirty="0" smtClean="0">
                <a:latin typeface="Times New Roman" panose="02020603050405020304" pitchFamily="18" charset="0"/>
                <a:cs typeface="Times New Roman" panose="02020603050405020304" pitchFamily="18" charset="0"/>
              </a:rPr>
              <a:t>Theoretical framework</a:t>
            </a:r>
            <a:endParaRPr lang="en-US" sz="2400" dirty="0" smtClean="0">
              <a:latin typeface="Times New Roman" panose="02020603050405020304" pitchFamily="18" charset="0"/>
              <a:cs typeface="Times New Roman" panose="02020603050405020304" pitchFamily="18" charset="0"/>
            </a:endParaRPr>
          </a:p>
          <a:p>
            <a:pPr marL="571500" indent="-571500">
              <a:lnSpc>
                <a:spcPct val="20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WP focusing on the examples and forms of words (tenses, gender, case, and number), improves on most principles of IP and IA. </a:t>
            </a:r>
          </a:p>
          <a:p>
            <a:pPr marL="571500" indent="-571500">
              <a:lnSpc>
                <a:spcPct val="20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WP emphasizes the ways that the internal structures provide whole words with distinctive shapes and how these permit (or) facilitate the development of patterns of relations between them. </a:t>
            </a:r>
          </a:p>
          <a:p>
            <a:pPr marL="571500" indent="-571500">
              <a:lnSpc>
                <a:spcPct val="20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WL uses the internal structure of words to cluster words with related patterns.</a:t>
            </a:r>
          </a:p>
        </p:txBody>
      </p:sp>
    </p:spTree>
    <p:extLst>
      <p:ext uri="{BB962C8B-B14F-4D97-AF65-F5344CB8AC3E}">
        <p14:creationId xmlns:p14="http://schemas.microsoft.com/office/powerpoint/2010/main" val="3061589706"/>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62983" y="133370"/>
            <a:ext cx="9357646" cy="4411785"/>
          </a:xfrm>
          <a:prstGeom prst="rect">
            <a:avLst/>
          </a:prstGeom>
        </p:spPr>
        <p:txBody>
          <a:bodyPr wrap="square">
            <a:spAutoFit/>
          </a:bodyPr>
          <a:lstStyle/>
          <a:p>
            <a:pPr algn="ctr">
              <a:lnSpc>
                <a:spcPct val="200000"/>
              </a:lnSpc>
            </a:pPr>
            <a:r>
              <a:rPr lang="en-US" sz="2400" dirty="0" smtClean="0">
                <a:latin typeface="Times New Roman" panose="02020603050405020304" pitchFamily="18" charset="0"/>
                <a:cs typeface="Times New Roman" panose="02020603050405020304" pitchFamily="18" charset="0"/>
              </a:rPr>
              <a:t>Theoretical Framework: </a:t>
            </a:r>
          </a:p>
          <a:p>
            <a:pPr marL="571500" indent="-571500">
              <a:lnSpc>
                <a:spcPct val="20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cs typeface="Times New Roman" panose="02020603050405020304" pitchFamily="18" charset="0"/>
              </a:rPr>
              <a:t>‘sub-word’ tradition (IP and IA) treats morphology in terms of the morphemic internal structure of words and the nature of the processes responsible for their composition” (Blevins, et al., 2015:2</a:t>
            </a:r>
            <a:r>
              <a:rPr lang="en-US" sz="2400" dirty="0" smtClean="0">
                <a:latin typeface="Times New Roman" panose="02020603050405020304" pitchFamily="18" charset="0"/>
                <a:cs typeface="Times New Roman" panose="02020603050405020304" pitchFamily="18" charset="0"/>
              </a:rPr>
              <a:t>). </a:t>
            </a:r>
          </a:p>
          <a:p>
            <a:pPr marL="571500" indent="-571500">
              <a:lnSpc>
                <a:spcPct val="200000"/>
              </a:lnSpc>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WL in line with the above theories, exploits the arrangements in the structure of words occasioned by word process to group words.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3712653"/>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7307" y="0"/>
            <a:ext cx="10596785" cy="5632311"/>
          </a:xfrm>
          <a:prstGeom prst="rect">
            <a:avLst/>
          </a:prstGeom>
        </p:spPr>
        <p:txBody>
          <a:bodyPr wrap="square">
            <a:spAutoFit/>
          </a:bodyPr>
          <a:lstStyle/>
          <a:p>
            <a:pPr marL="571500" indent="-571500" algn="ctr">
              <a:lnSpc>
                <a:spcPct val="200000"/>
              </a:lnSpc>
              <a:buFont typeface="Arial" panose="020B0604020202020204" pitchFamily="34" charset="0"/>
              <a:buChar char="•"/>
            </a:pPr>
            <a:r>
              <a:rPr lang="en-GB" sz="3600" dirty="0" smtClean="0">
                <a:latin typeface="Times New Roman" panose="02020603050405020304" pitchFamily="18" charset="0"/>
                <a:cs typeface="Times New Roman" panose="02020603050405020304" pitchFamily="18" charset="0"/>
              </a:rPr>
              <a:t>Theoretical framework</a:t>
            </a:r>
          </a:p>
          <a:p>
            <a:pPr marL="571500" indent="-571500">
              <a:lnSpc>
                <a:spcPct val="20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The Minimum Description Length (MDL) principle (</a:t>
            </a:r>
            <a:r>
              <a:rPr lang="en-US" sz="2400" dirty="0" err="1" smtClean="0">
                <a:latin typeface="Times New Roman" panose="02020603050405020304" pitchFamily="18" charset="0"/>
                <a:cs typeface="Times New Roman" panose="02020603050405020304" pitchFamily="18" charset="0"/>
              </a:rPr>
              <a:t>Rissanen</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1978</a:t>
            </a:r>
            <a:r>
              <a:rPr lang="en-US" sz="2400" dirty="0">
                <a:latin typeface="Times New Roman" panose="02020603050405020304" pitchFamily="18" charset="0"/>
                <a:cs typeface="Times New Roman" panose="02020603050405020304" pitchFamily="18" charset="0"/>
              </a:rPr>
              <a:t>)</a:t>
            </a:r>
            <a:r>
              <a:rPr lang="en-US" sz="2400" dirty="0" smtClean="0">
                <a:latin typeface="Times New Roman" panose="02020603050405020304" pitchFamily="18" charset="0"/>
                <a:cs typeface="Times New Roman" panose="02020603050405020304" pitchFamily="18" charset="0"/>
              </a:rPr>
              <a:t> is the computational theory deployed. </a:t>
            </a:r>
          </a:p>
          <a:p>
            <a:pPr marL="571500" indent="-571500">
              <a:lnSpc>
                <a:spcPct val="20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It posits </a:t>
            </a:r>
            <a:r>
              <a:rPr lang="en-US" sz="2400" dirty="0">
                <a:latin typeface="Times New Roman" panose="02020603050405020304" pitchFamily="18" charset="0"/>
                <a:cs typeface="Times New Roman" panose="02020603050405020304" pitchFamily="18" charset="0"/>
              </a:rPr>
              <a:t>that the more the regularities in data the more the compression and the more the learning about data (</a:t>
            </a:r>
            <a:r>
              <a:rPr lang="en-US" sz="2400" dirty="0" err="1">
                <a:latin typeface="Times New Roman" panose="02020603050405020304" pitchFamily="18" charset="0"/>
                <a:cs typeface="Times New Roman" panose="02020603050405020304" pitchFamily="18" charset="0"/>
              </a:rPr>
              <a:t>Grünwald</a:t>
            </a:r>
            <a:r>
              <a:rPr lang="en-US" sz="2400" dirty="0">
                <a:latin typeface="Times New Roman" panose="02020603050405020304" pitchFamily="18" charset="0"/>
                <a:cs typeface="Times New Roman" panose="02020603050405020304" pitchFamily="18" charset="0"/>
              </a:rPr>
              <a:t>, 2004).</a:t>
            </a:r>
          </a:p>
          <a:p>
            <a:pPr marL="571500" indent="-571500">
              <a:lnSpc>
                <a:spcPct val="200000"/>
              </a:lnSpc>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It is therefore a learning theory, which equates compression to learning, which is the principle used in clustering the words under word labels</a:t>
            </a:r>
            <a:r>
              <a:rPr lang="en-GB"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4963441"/>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48442" y="522514"/>
            <a:ext cx="8904718" cy="3170099"/>
          </a:xfrm>
          <a:prstGeom prst="rect">
            <a:avLst/>
          </a:prstGeom>
        </p:spPr>
        <p:txBody>
          <a:bodyPr wrap="square">
            <a:spAutoFit/>
          </a:bodyPr>
          <a:lstStyle/>
          <a:p>
            <a:pPr>
              <a:lnSpc>
                <a:spcPct val="200000"/>
              </a:lnSpc>
            </a:pPr>
            <a:r>
              <a:rPr lang="en-US" sz="2000" dirty="0" smtClean="0">
                <a:latin typeface="Times New Roman" panose="02020603050405020304" pitchFamily="18" charset="0"/>
                <a:cs typeface="Times New Roman" panose="02020603050405020304" pitchFamily="18" charset="0"/>
              </a:rPr>
              <a:t>Conceptual framework: </a:t>
            </a:r>
            <a:r>
              <a:rPr lang="en-US" sz="2000" dirty="0" err="1" smtClean="0">
                <a:latin typeface="Times New Roman" panose="02020603050405020304" pitchFamily="18" charset="0"/>
                <a:cs typeface="Times New Roman" panose="02020603050405020304" pitchFamily="18" charset="0"/>
              </a:rPr>
              <a:t>Seila’s</a:t>
            </a:r>
            <a:r>
              <a:rPr lang="en-US" sz="2000" dirty="0" smtClean="0">
                <a:latin typeface="Times New Roman" panose="02020603050405020304" pitchFamily="18" charset="0"/>
                <a:cs typeface="Times New Roman" panose="02020603050405020304" pitchFamily="18" charset="0"/>
              </a:rPr>
              <a:t> 13-steps procedures (cited in Yin and </a:t>
            </a:r>
            <a:r>
              <a:rPr lang="en-US" sz="2000" dirty="0" err="1" smtClean="0">
                <a:latin typeface="Times New Roman" panose="02020603050405020304" pitchFamily="18" charset="0"/>
                <a:cs typeface="Times New Roman" panose="02020603050405020304" pitchFamily="18" charset="0"/>
              </a:rPr>
              <a:t>Mckay</a:t>
            </a:r>
            <a:r>
              <a:rPr lang="en-US" sz="2000" dirty="0" smtClean="0">
                <a:latin typeface="Times New Roman" panose="02020603050405020304" pitchFamily="18" charset="0"/>
                <a:cs typeface="Times New Roman" panose="02020603050405020304" pitchFamily="18" charset="0"/>
              </a:rPr>
              <a:t>, 2018), which has been reduced to simply:</a:t>
            </a:r>
          </a:p>
          <a:p>
            <a:pPr marL="742950" indent="-742950">
              <a:lnSpc>
                <a:spcPct val="200000"/>
              </a:lnSpc>
              <a:buAutoNum type="alphaLcPeriod"/>
            </a:pPr>
            <a:r>
              <a:rPr lang="en-GB" sz="2000" dirty="0" smtClean="0">
                <a:latin typeface="Times New Roman" panose="02020603050405020304" pitchFamily="18" charset="0"/>
                <a:cs typeface="Times New Roman" panose="02020603050405020304" pitchFamily="18" charset="0"/>
              </a:rPr>
              <a:t>Input (Sampled Igbo words)</a:t>
            </a:r>
          </a:p>
          <a:p>
            <a:pPr marL="742950" indent="-742950">
              <a:lnSpc>
                <a:spcPct val="200000"/>
              </a:lnSpc>
              <a:buAutoNum type="alphaLcPeriod"/>
            </a:pPr>
            <a:r>
              <a:rPr lang="en-GB" sz="2000" dirty="0" smtClean="0">
                <a:latin typeface="Times New Roman" panose="02020603050405020304" pitchFamily="18" charset="0"/>
                <a:cs typeface="Times New Roman" panose="02020603050405020304" pitchFamily="18" charset="0"/>
              </a:rPr>
              <a:t>Processing (WL clustering the words)</a:t>
            </a:r>
          </a:p>
          <a:p>
            <a:pPr marL="742950" indent="-742950">
              <a:lnSpc>
                <a:spcPct val="200000"/>
              </a:lnSpc>
              <a:buAutoNum type="alphaLcPeriod"/>
            </a:pPr>
            <a:r>
              <a:rPr lang="en-GB" sz="2000" dirty="0" smtClean="0">
                <a:latin typeface="Times New Roman" panose="02020603050405020304" pitchFamily="18" charset="0"/>
                <a:cs typeface="Times New Roman" panose="02020603050405020304" pitchFamily="18" charset="0"/>
              </a:rPr>
              <a:t>Output (grouped Igbo words according to WL)</a:t>
            </a:r>
            <a:endParaRPr lang="en-US"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94711544"/>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85181" y="733246"/>
            <a:ext cx="9471425" cy="4307398"/>
          </a:xfrm>
          <a:prstGeom prst="rect">
            <a:avLst/>
          </a:prstGeom>
        </p:spPr>
        <p:txBody>
          <a:bodyPr wrap="square">
            <a:spAutoFit/>
          </a:bodyPr>
          <a:lstStyle/>
          <a:p>
            <a:pPr algn="ctr">
              <a:lnSpc>
                <a:spcPct val="200000"/>
              </a:lnSpc>
            </a:pPr>
            <a:r>
              <a:rPr lang="en-GB" sz="2000" dirty="0" smtClean="0">
                <a:latin typeface="Times New Roman" panose="02020603050405020304" pitchFamily="18" charset="0"/>
                <a:cs typeface="Times New Roman" panose="02020603050405020304" pitchFamily="18" charset="0"/>
              </a:rPr>
              <a:t>Literature Review:</a:t>
            </a:r>
            <a:endParaRPr lang="en-US" sz="2000" dirty="0" smtClean="0">
              <a:latin typeface="Times New Roman" panose="02020603050405020304" pitchFamily="18" charset="0"/>
              <a:cs typeface="Times New Roman" panose="02020603050405020304" pitchFamily="18" charset="0"/>
            </a:endParaRPr>
          </a:p>
          <a:p>
            <a:pPr marL="685800" indent="-685800">
              <a:lnSpc>
                <a:spcPct val="200000"/>
              </a:lnSpc>
              <a:buFont typeface="Arial" panose="020B0604020202020204" pitchFamily="34" charset="0"/>
              <a:buChar char="•"/>
            </a:pPr>
            <a:r>
              <a:rPr lang="en-US" sz="2000" dirty="0" err="1" smtClean="0">
                <a:latin typeface="Times New Roman" panose="02020603050405020304" pitchFamily="18" charset="0"/>
                <a:cs typeface="Times New Roman" panose="02020603050405020304" pitchFamily="18" charset="0"/>
              </a:rPr>
              <a:t>Iheanetu</a:t>
            </a:r>
            <a:r>
              <a:rPr lang="en-US" sz="2000" dirty="0" smtClean="0">
                <a:latin typeface="Times New Roman" panose="02020603050405020304" pitchFamily="18" charset="0"/>
                <a:cs typeface="Times New Roman" panose="02020603050405020304" pitchFamily="18" charset="0"/>
              </a:rPr>
              <a:t> (2015) and </a:t>
            </a:r>
            <a:r>
              <a:rPr lang="en-US" sz="2000" dirty="0" err="1" smtClean="0">
                <a:latin typeface="Times New Roman" panose="02020603050405020304" pitchFamily="18" charset="0"/>
                <a:cs typeface="Times New Roman" panose="02020603050405020304" pitchFamily="18" charset="0"/>
              </a:rPr>
              <a:t>Iheanetu</a:t>
            </a:r>
            <a:r>
              <a:rPr lang="en-US" sz="2000" dirty="0" smtClean="0">
                <a:latin typeface="Times New Roman" panose="02020603050405020304" pitchFamily="18" charset="0"/>
                <a:cs typeface="Times New Roman" panose="02020603050405020304" pitchFamily="18" charset="0"/>
              </a:rPr>
              <a:t>, et al. (2017) used the WL approach, which is the computational approach of this research. </a:t>
            </a:r>
          </a:p>
          <a:p>
            <a:pPr marL="685800" indent="-685800">
              <a:lnSpc>
                <a:spcPct val="20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However, while the works were groundbreaking in their WL application, evaluation of data sufficiency for induction and simulation of Igbo morphological processes etc., the present research is concerned with automatic detection of morpheme boundaries, POS,  and morpheme types distribution as modeled by WL.</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7465955"/>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46789" y="352697"/>
            <a:ext cx="10183657" cy="5632311"/>
          </a:xfrm>
          <a:prstGeom prst="rect">
            <a:avLst/>
          </a:prstGeom>
        </p:spPr>
        <p:txBody>
          <a:bodyPr wrap="square">
            <a:spAutoFit/>
          </a:bodyPr>
          <a:lstStyle/>
          <a:p>
            <a:pPr marL="571500" indent="-571500" algn="just">
              <a:lnSpc>
                <a:spcPct val="200000"/>
              </a:lnSpc>
              <a:buFont typeface="Arial" panose="020B0604020202020204" pitchFamily="34" charset="0"/>
              <a:buChar char="•"/>
            </a:pPr>
            <a:r>
              <a:rPr lang="en-US" sz="2000" dirty="0" err="1" smtClean="0">
                <a:latin typeface="Times New Roman" panose="02020603050405020304" pitchFamily="18" charset="0"/>
                <a:cs typeface="Times New Roman" panose="02020603050405020304" pitchFamily="18" charset="0"/>
              </a:rPr>
              <a:t>Adegbola</a:t>
            </a:r>
            <a:r>
              <a:rPr lang="en-US" sz="2000" dirty="0" smtClean="0">
                <a:latin typeface="Times New Roman" panose="02020603050405020304" pitchFamily="18" charset="0"/>
                <a:cs typeface="Times New Roman" panose="02020603050405020304" pitchFamily="18" charset="0"/>
              </a:rPr>
              <a:t> (2016) focused on refining word clusters.</a:t>
            </a:r>
          </a:p>
          <a:p>
            <a:pPr marL="571500" indent="-571500" algn="just">
              <a:lnSpc>
                <a:spcPct val="200000"/>
              </a:lnSpc>
              <a:buFont typeface="Arial" panose="020B0604020202020204" pitchFamily="34" charset="0"/>
              <a:buChar char="•"/>
            </a:pPr>
            <a:r>
              <a:rPr lang="en-US" sz="2000" dirty="0" err="1" smtClean="0">
                <a:latin typeface="Times New Roman" panose="02020603050405020304" pitchFamily="18" charset="0"/>
                <a:cs typeface="Times New Roman" panose="02020603050405020304" pitchFamily="18" charset="0"/>
              </a:rPr>
              <a:t>Lawal</a:t>
            </a:r>
            <a:r>
              <a:rPr lang="en-US" sz="2000" dirty="0" smtClean="0">
                <a:latin typeface="Times New Roman" panose="02020603050405020304" pitchFamily="18" charset="0"/>
                <a:cs typeface="Times New Roman" panose="02020603050405020304" pitchFamily="18" charset="0"/>
              </a:rPr>
              <a:t> (2023) like the present research was concerned with morphological </a:t>
            </a:r>
            <a:r>
              <a:rPr lang="en-US" sz="2000" dirty="0" err="1" smtClean="0">
                <a:latin typeface="Times New Roman" panose="02020603050405020304" pitchFamily="18" charset="0"/>
                <a:cs typeface="Times New Roman" panose="02020603050405020304" pitchFamily="18" charset="0"/>
              </a:rPr>
              <a:t>analysing</a:t>
            </a:r>
            <a:r>
              <a:rPr lang="en-US" sz="2000" dirty="0" smtClean="0">
                <a:latin typeface="Times New Roman" panose="02020603050405020304" pitchFamily="18" charset="0"/>
                <a:cs typeface="Times New Roman" panose="02020603050405020304" pitchFamily="18" charset="0"/>
              </a:rPr>
              <a:t> efficiency using Yoruba language and Linguistica. However, the present research uses WL approach to investigate Igbo language.</a:t>
            </a:r>
          </a:p>
          <a:p>
            <a:pPr marL="571500" indent="-571500" algn="just">
              <a:lnSpc>
                <a:spcPct val="200000"/>
              </a:lnSpc>
              <a:buFont typeface="Arial" panose="020B0604020202020204" pitchFamily="34" charset="0"/>
              <a:buChar char="•"/>
            </a:pPr>
            <a:r>
              <a:rPr lang="en-US" sz="2000" dirty="0" err="1" smtClean="0">
                <a:latin typeface="Times New Roman" panose="02020603050405020304" pitchFamily="18" charset="0"/>
                <a:cs typeface="Times New Roman" panose="02020603050405020304" pitchFamily="18" charset="0"/>
              </a:rPr>
              <a:t>Adegbola</a:t>
            </a:r>
            <a:r>
              <a:rPr lang="en-US" sz="2000" dirty="0" smtClean="0">
                <a:latin typeface="Times New Roman" panose="02020603050405020304" pitchFamily="18" charset="0"/>
                <a:cs typeface="Times New Roman" panose="02020603050405020304" pitchFamily="18" charset="0"/>
              </a:rPr>
              <a:t> (2022) dwelt on automatic detection of morphological processes using WL approach and Yoruba language.</a:t>
            </a:r>
          </a:p>
          <a:p>
            <a:pPr marL="571500" indent="-571500" algn="just">
              <a:lnSpc>
                <a:spcPct val="200000"/>
              </a:lnSpc>
              <a:buFont typeface="Arial" panose="020B0604020202020204" pitchFamily="34" charset="0"/>
              <a:buChar char="•"/>
            </a:pPr>
            <a:r>
              <a:rPr lang="en-US" sz="2000" dirty="0" err="1" smtClean="0">
                <a:latin typeface="Times New Roman" panose="02020603050405020304" pitchFamily="18" charset="0"/>
                <a:cs typeface="Times New Roman" panose="02020603050405020304" pitchFamily="18" charset="0"/>
              </a:rPr>
              <a:t>Copot</a:t>
            </a:r>
            <a:r>
              <a:rPr lang="en-US" sz="2000" dirty="0" smtClean="0">
                <a:latin typeface="Times New Roman" panose="02020603050405020304" pitchFamily="18" charset="0"/>
                <a:cs typeface="Times New Roman" panose="02020603050405020304" pitchFamily="18" charset="0"/>
              </a:rPr>
              <a:t> et al., (2022) investigated Croatian and English languages, using WP theory. </a:t>
            </a:r>
          </a:p>
          <a:p>
            <a:pPr marL="571500" indent="-571500" algn="just">
              <a:lnSpc>
                <a:spcPct val="200000"/>
              </a:lnSpc>
              <a:buFont typeface="Arial" panose="020B0604020202020204" pitchFamily="34" charset="0"/>
              <a:buChar char="•"/>
            </a:pPr>
            <a:r>
              <a:rPr lang="en-US" sz="2000" dirty="0" smtClean="0">
                <a:latin typeface="Times New Roman" panose="02020603050405020304" pitchFamily="18" charset="0"/>
                <a:cs typeface="Times New Roman" panose="02020603050405020304" pitchFamily="18" charset="0"/>
              </a:rPr>
              <a:t>The present study, in line with WP principles, focuses on Igbo language and uses WL approach.</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4179988"/>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95514" y="235131"/>
            <a:ext cx="10326372" cy="5509200"/>
          </a:xfrm>
          <a:prstGeom prst="rect">
            <a:avLst/>
          </a:prstGeom>
        </p:spPr>
        <p:txBody>
          <a:bodyPr wrap="square">
            <a:spAutoFit/>
          </a:bodyPr>
          <a:lstStyle/>
          <a:p>
            <a:pPr algn="ctr"/>
            <a:r>
              <a:rPr lang="en-US" sz="3200" dirty="0" smtClean="0">
                <a:latin typeface="Times New Roman" panose="02020603050405020304" pitchFamily="18" charset="0"/>
                <a:cs typeface="Times New Roman" panose="02020603050405020304" pitchFamily="18" charset="0"/>
              </a:rPr>
              <a:t>Methodology:</a:t>
            </a:r>
          </a:p>
          <a:p>
            <a:pPr marL="571500" indent="-571500">
              <a:lnSpc>
                <a:spcPct val="200000"/>
              </a:lnSpc>
              <a:buFont typeface="Arial" panose="020B0604020202020204" pitchFamily="34" charset="0"/>
              <a:buChar char="•"/>
            </a:pPr>
            <a:r>
              <a:rPr lang="en-US" sz="3200" dirty="0" smtClean="0">
                <a:latin typeface="Times New Roman" panose="02020603050405020304" pitchFamily="18" charset="0"/>
                <a:cs typeface="Times New Roman" panose="02020603050405020304" pitchFamily="18" charset="0"/>
              </a:rPr>
              <a:t>The research uses a mixed method approach of quantitative and qualitative methods, whereby the words, their conversion into word labels and word labels are identified as qualities, while the sample wordlist and their distributions under WL are identified as quantities. </a:t>
            </a:r>
          </a:p>
        </p:txBody>
      </p:sp>
    </p:spTree>
    <p:extLst>
      <p:ext uri="{BB962C8B-B14F-4D97-AF65-F5344CB8AC3E}">
        <p14:creationId xmlns:p14="http://schemas.microsoft.com/office/powerpoint/2010/main" val="3475210914"/>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0558" y="958785"/>
            <a:ext cx="11502638" cy="5262979"/>
          </a:xfrm>
          <a:prstGeom prst="rect">
            <a:avLst/>
          </a:prstGeom>
        </p:spPr>
        <p:txBody>
          <a:bodyPr wrap="square">
            <a:spAutoFit/>
          </a:bodyPr>
          <a:lstStyle/>
          <a:p>
            <a:pPr marL="571500" indent="-571500">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research design used is modeling and simulation design, which concerns the processing of data via a simulation process like computational simulation (WL approach), to imitate a reality, in order to gain information about the reality imitated</a:t>
            </a:r>
            <a:r>
              <a:rPr lang="en-US" sz="2400" dirty="0" smtClean="0">
                <a:latin typeface="Times New Roman" panose="02020603050405020304" pitchFamily="18" charset="0"/>
                <a:cs typeface="Times New Roman" panose="02020603050405020304" pitchFamily="18" charset="0"/>
              </a:rPr>
              <a:t>.</a:t>
            </a:r>
          </a:p>
          <a:p>
            <a:pPr marL="571500" indent="-571500">
              <a:lnSpc>
                <a:spcPct val="200000"/>
              </a:lnSpc>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T</a:t>
            </a:r>
            <a:r>
              <a:rPr lang="en-GB" sz="2400" dirty="0" smtClean="0">
                <a:latin typeface="Times New Roman" panose="02020603050405020304" pitchFamily="18" charset="0"/>
                <a:cs typeface="Times New Roman" panose="02020603050405020304" pitchFamily="18" charset="0"/>
              </a:rPr>
              <a:t>his research investigates the modelling of how Igbo speakers breakdown words into morphemes. </a:t>
            </a:r>
          </a:p>
          <a:p>
            <a:pPr marL="571500" indent="-571500">
              <a:lnSpc>
                <a:spcPct val="200000"/>
              </a:lnSpc>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In general, what is being simulated is the way humans use morphology to compress the lexicon of a language for improved parsimony, for easy dealings with words.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1236977"/>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92068" y="1073414"/>
            <a:ext cx="9913122" cy="3785652"/>
          </a:xfrm>
          <a:prstGeom prst="rect">
            <a:avLst/>
          </a:prstGeom>
        </p:spPr>
        <p:txBody>
          <a:bodyPr wrap="square">
            <a:spAutoFit/>
          </a:bodyPr>
          <a:lstStyle/>
          <a:p>
            <a:pPr marL="571500" indent="-571500">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Study population and sampling: infinite Igbo words, wordlist sampled from infinite Igbo words. </a:t>
            </a:r>
          </a:p>
          <a:p>
            <a:pPr marL="571500" indent="-571500">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Data source: </a:t>
            </a:r>
            <a:r>
              <a:rPr lang="en-US" sz="2400" dirty="0" smtClean="0">
                <a:latin typeface="Times New Roman" panose="02020603050405020304" pitchFamily="18" charset="0"/>
                <a:cs typeface="Times New Roman" panose="02020603050405020304" pitchFamily="18" charset="0"/>
              </a:rPr>
              <a:t>The study uses secondary data, since existing corpora were used. </a:t>
            </a:r>
            <a:r>
              <a:rPr lang="en-US" sz="2400" dirty="0" err="1" smtClean="0">
                <a:latin typeface="Times New Roman" panose="02020603050405020304" pitchFamily="18" charset="0"/>
                <a:cs typeface="Times New Roman" panose="02020603050405020304" pitchFamily="18" charset="0"/>
              </a:rPr>
              <a:t>Nweya</a:t>
            </a:r>
            <a:r>
              <a:rPr lang="en-US" sz="2400" dirty="0">
                <a:latin typeface="Times New Roman" panose="02020603050405020304" pitchFamily="18" charset="0"/>
                <a:cs typeface="Times New Roman" panose="02020603050405020304" pitchFamily="18" charset="0"/>
              </a:rPr>
              <a:t>, et al., (2022): </a:t>
            </a:r>
            <a:r>
              <a:rPr lang="en-US" sz="2400" dirty="0" err="1" smtClean="0">
                <a:latin typeface="Times New Roman" panose="02020603050405020304" pitchFamily="18" charset="0"/>
                <a:cs typeface="Times New Roman" panose="02020603050405020304" pitchFamily="18" charset="0"/>
              </a:rPr>
              <a:t>IgboSynCorpus</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Ezeani</a:t>
            </a:r>
            <a:r>
              <a:rPr lang="en-US" sz="2400" dirty="0">
                <a:latin typeface="Times New Roman" panose="02020603050405020304" pitchFamily="18" charset="0"/>
                <a:cs typeface="Times New Roman" panose="02020603050405020304" pitchFamily="18" charset="0"/>
              </a:rPr>
              <a:t>, et al. (2020), </a:t>
            </a:r>
            <a:r>
              <a:rPr lang="en-US" sz="2400" dirty="0" err="1">
                <a:latin typeface="Times New Roman" panose="02020603050405020304" pitchFamily="18" charset="0"/>
                <a:cs typeface="Times New Roman" panose="02020603050405020304" pitchFamily="18" charset="0"/>
              </a:rPr>
              <a:t>Ikechukwu</a:t>
            </a:r>
            <a:r>
              <a:rPr lang="en-US" sz="2400" dirty="0">
                <a:latin typeface="Times New Roman" panose="02020603050405020304" pitchFamily="18" charset="0"/>
                <a:cs typeface="Times New Roman" panose="02020603050405020304" pitchFamily="18" charset="0"/>
              </a:rPr>
              <a:t> et al. (2018), and </a:t>
            </a:r>
            <a:r>
              <a:rPr lang="en-US" sz="2400" dirty="0" err="1">
                <a:latin typeface="Times New Roman" panose="02020603050405020304" pitchFamily="18" charset="0"/>
                <a:cs typeface="Times New Roman" panose="02020603050405020304" pitchFamily="18" charset="0"/>
              </a:rPr>
              <a:t>Ikechukwu</a:t>
            </a:r>
            <a:r>
              <a:rPr lang="en-US" sz="2400" dirty="0">
                <a:latin typeface="Times New Roman" panose="02020603050405020304" pitchFamily="18" charset="0"/>
                <a:cs typeface="Times New Roman" panose="02020603050405020304" pitchFamily="18" charset="0"/>
              </a:rPr>
              <a:t> et al. (</a:t>
            </a:r>
            <a:r>
              <a:rPr lang="en-US" sz="2400" dirty="0" smtClean="0">
                <a:latin typeface="Times New Roman" panose="02020603050405020304" pitchFamily="18" charset="0"/>
                <a:cs typeface="Times New Roman" panose="02020603050405020304" pitchFamily="18" charset="0"/>
              </a:rPr>
              <a:t>2019)</a:t>
            </a:r>
          </a:p>
        </p:txBody>
      </p:sp>
    </p:spTree>
    <p:extLst>
      <p:ext uri="{BB962C8B-B14F-4D97-AF65-F5344CB8AC3E}">
        <p14:creationId xmlns:p14="http://schemas.microsoft.com/office/powerpoint/2010/main" val="1328324086"/>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64777" y="914400"/>
            <a:ext cx="10841073" cy="5632311"/>
          </a:xfrm>
          <a:prstGeom prst="rect">
            <a:avLst/>
          </a:prstGeom>
        </p:spPr>
        <p:txBody>
          <a:bodyPr wrap="square">
            <a:spAutoFit/>
          </a:bodyPr>
          <a:lstStyle/>
          <a:p>
            <a:pPr>
              <a:lnSpc>
                <a:spcPct val="200000"/>
              </a:lnSpc>
            </a:pPr>
            <a:r>
              <a:rPr lang="en-US" sz="2000" dirty="0">
                <a:latin typeface="Times New Roman" panose="02020603050405020304" pitchFamily="18" charset="0"/>
                <a:cs typeface="Times New Roman" panose="02020603050405020304" pitchFamily="18" charset="0"/>
              </a:rPr>
              <a:t>Data collection and cleaning:</a:t>
            </a:r>
          </a:p>
          <a:p>
            <a:pPr marL="571500" indent="-5715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Number of words from </a:t>
            </a:r>
            <a:r>
              <a:rPr lang="en-US" sz="2000" dirty="0" err="1">
                <a:latin typeface="Times New Roman" panose="02020603050405020304" pitchFamily="18" charset="0"/>
                <a:cs typeface="Times New Roman" panose="02020603050405020304" pitchFamily="18" charset="0"/>
              </a:rPr>
              <a:t>IgboSynCorp</a:t>
            </a:r>
            <a:r>
              <a:rPr lang="en-US" sz="2000" dirty="0">
                <a:latin typeface="Times New Roman" panose="02020603050405020304" pitchFamily="18" charset="0"/>
                <a:cs typeface="Times New Roman" panose="02020603050405020304" pitchFamily="18" charset="0"/>
              </a:rPr>
              <a:t>: 5000 words </a:t>
            </a:r>
          </a:p>
          <a:p>
            <a:pPr marL="571500" indent="-571500">
              <a:lnSpc>
                <a:spcPct val="20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Ezeani</a:t>
            </a:r>
            <a:r>
              <a:rPr lang="en-US" sz="2000" dirty="0">
                <a:latin typeface="Times New Roman" panose="02020603050405020304" pitchFamily="18" charset="0"/>
                <a:cs typeface="Times New Roman" panose="02020603050405020304" pitchFamily="18" charset="0"/>
              </a:rPr>
              <a:t>, et al. (2020): 1,000,000, words</a:t>
            </a:r>
          </a:p>
          <a:p>
            <a:pPr marL="571500" indent="-571500">
              <a:lnSpc>
                <a:spcPct val="20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IgboSynCorp</a:t>
            </a:r>
            <a:r>
              <a:rPr lang="en-US" sz="2000" dirty="0">
                <a:latin typeface="Times New Roman" panose="02020603050405020304" pitchFamily="18" charset="0"/>
                <a:cs typeface="Times New Roman" panose="02020603050405020304" pitchFamily="18" charset="0"/>
              </a:rPr>
              <a:t> dictionary tagged corpus: 1639 words</a:t>
            </a:r>
          </a:p>
          <a:p>
            <a:pPr marL="571500" indent="-571500">
              <a:lnSpc>
                <a:spcPct val="200000"/>
              </a:lnSpc>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Ikechukwu</a:t>
            </a:r>
            <a:r>
              <a:rPr lang="en-US" sz="2000" dirty="0">
                <a:latin typeface="Times New Roman" panose="02020603050405020304" pitchFamily="18" charset="0"/>
                <a:cs typeface="Times New Roman" panose="02020603050405020304" pitchFamily="18" charset="0"/>
              </a:rPr>
              <a:t> et al. (2018), and </a:t>
            </a:r>
            <a:r>
              <a:rPr lang="en-US" sz="2000" dirty="0" err="1">
                <a:latin typeface="Times New Roman" panose="02020603050405020304" pitchFamily="18" charset="0"/>
                <a:cs typeface="Times New Roman" panose="02020603050405020304" pitchFamily="18" charset="0"/>
              </a:rPr>
              <a:t>Ikechukwu</a:t>
            </a:r>
            <a:r>
              <a:rPr lang="en-US" sz="2000" dirty="0">
                <a:latin typeface="Times New Roman" panose="02020603050405020304" pitchFamily="18" charset="0"/>
                <a:cs typeface="Times New Roman" panose="02020603050405020304" pitchFamily="18" charset="0"/>
              </a:rPr>
              <a:t> et al. (2019) tagged corpus: 100,000 words</a:t>
            </a:r>
          </a:p>
          <a:p>
            <a:pPr marL="571500" indent="-571500">
              <a:lnSpc>
                <a:spcPct val="20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words were extracted and cleaned, removing non Igbo words, numbers etc</a:t>
            </a:r>
            <a:r>
              <a:rPr lang="en-US" sz="2000" dirty="0" smtClean="0">
                <a:latin typeface="Times New Roman" panose="02020603050405020304" pitchFamily="18" charset="0"/>
                <a:cs typeface="Times New Roman" panose="02020603050405020304" pitchFamily="18" charset="0"/>
              </a:rPr>
              <a:t>.</a:t>
            </a:r>
            <a:endParaRPr lang="en-US" sz="2000" i="0" dirty="0" smtClean="0">
              <a:solidFill>
                <a:srgbClr val="000000"/>
              </a:solidFill>
              <a:effectLst/>
              <a:latin typeface="Times New Roman" panose="02020603050405020304" pitchFamily="18" charset="0"/>
              <a:cs typeface="Times New Roman" panose="02020603050405020304" pitchFamily="18" charset="0"/>
            </a:endParaRPr>
          </a:p>
          <a:p>
            <a:pPr algn="just">
              <a:lnSpc>
                <a:spcPct val="200000"/>
              </a:lnSpc>
              <a:buFont typeface="Arial" panose="020B0604020202020204" pitchFamily="34" charset="0"/>
              <a:buChar char="•"/>
            </a:pPr>
            <a:r>
              <a:rPr lang="en-US" sz="2000" i="0" dirty="0" smtClean="0">
                <a:solidFill>
                  <a:srgbClr val="000000"/>
                </a:solidFill>
                <a:effectLst/>
                <a:latin typeface="Times New Roman" panose="02020603050405020304" pitchFamily="18" charset="0"/>
                <a:cs typeface="Times New Roman" panose="02020603050405020304" pitchFamily="18" charset="0"/>
              </a:rPr>
              <a:t>Data processing: The target is the structural patterns of the morpheme.</a:t>
            </a:r>
          </a:p>
          <a:p>
            <a:pPr algn="just">
              <a:lnSpc>
                <a:spcPct val="200000"/>
              </a:lnSpc>
              <a:buFont typeface="Arial" panose="020B0604020202020204" pitchFamily="34" charset="0"/>
              <a:buChar char="•"/>
            </a:pPr>
            <a:r>
              <a:rPr lang="en-US" sz="2000" i="0" dirty="0" smtClean="0">
                <a:solidFill>
                  <a:srgbClr val="000000"/>
                </a:solidFill>
                <a:effectLst/>
                <a:latin typeface="Times New Roman" panose="02020603050405020304" pitchFamily="18" charset="0"/>
                <a:cs typeface="Times New Roman" panose="02020603050405020304" pitchFamily="18" charset="0"/>
              </a:rPr>
              <a:t>The WL approach, a python enabled approach is used to automatically, label, tokenize, and cluster </a:t>
            </a:r>
            <a:r>
              <a:rPr lang="en-US" sz="2000" dirty="0" smtClean="0">
                <a:solidFill>
                  <a:srgbClr val="000000"/>
                </a:solidFill>
                <a:latin typeface="Times New Roman" panose="02020603050405020304" pitchFamily="18" charset="0"/>
                <a:cs typeface="Times New Roman" panose="02020603050405020304" pitchFamily="18" charset="0"/>
              </a:rPr>
              <a:t>Igbo words</a:t>
            </a:r>
            <a:r>
              <a:rPr lang="en-US" sz="2000" i="0" dirty="0" smtClean="0">
                <a:solidFill>
                  <a:srgbClr val="000000"/>
                </a:solidFill>
                <a:effectLst/>
                <a:latin typeface="Times New Roman" panose="02020603050405020304" pitchFamily="18" charset="0"/>
                <a:cs typeface="Times New Roman" panose="02020603050405020304" pitchFamily="18" charset="0"/>
              </a:rPr>
              <a:t>. </a:t>
            </a:r>
            <a:endParaRPr lang="en-US" sz="2000"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2434797"/>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0971" y="1049062"/>
            <a:ext cx="9878939" cy="5262979"/>
          </a:xfrm>
          <a:prstGeom prst="rect">
            <a:avLst/>
          </a:prstGeom>
        </p:spPr>
        <p:txBody>
          <a:bodyPr wrap="square">
            <a:spAutoFit/>
          </a:bodyPr>
          <a:lstStyle/>
          <a:p>
            <a:pPr algn="just">
              <a:lnSpc>
                <a:spcPct val="200000"/>
              </a:lnSpc>
            </a:pPr>
            <a:r>
              <a:rPr lang="en-US" sz="2800" b="1" i="0" dirty="0" smtClean="0">
                <a:solidFill>
                  <a:srgbClr val="000000"/>
                </a:solidFill>
                <a:effectLst/>
                <a:latin typeface="Times New Roman" panose="02020603050405020304" pitchFamily="18" charset="0"/>
                <a:cs typeface="Times New Roman" panose="02020603050405020304" pitchFamily="18" charset="0"/>
              </a:rPr>
              <a:t>Computational techniques and digital tools: Word Label: WL is a textual proxy of the pattern of arrangements of consonants and vowels in a word (</a:t>
            </a:r>
            <a:r>
              <a:rPr lang="en-US" sz="2800" b="1" i="0" dirty="0" err="1" smtClean="0">
                <a:solidFill>
                  <a:srgbClr val="000000"/>
                </a:solidFill>
                <a:effectLst/>
                <a:latin typeface="Times New Roman" panose="02020603050405020304" pitchFamily="18" charset="0"/>
                <a:cs typeface="Times New Roman" panose="02020603050405020304" pitchFamily="18" charset="0"/>
              </a:rPr>
              <a:t>Iheanetu</a:t>
            </a:r>
            <a:r>
              <a:rPr lang="en-US" sz="2800" b="1" i="0" dirty="0" smtClean="0">
                <a:solidFill>
                  <a:srgbClr val="000000"/>
                </a:solidFill>
                <a:effectLst/>
                <a:latin typeface="Times New Roman" panose="02020603050405020304" pitchFamily="18" charset="0"/>
                <a:cs typeface="Times New Roman" panose="02020603050405020304" pitchFamily="18" charset="0"/>
              </a:rPr>
              <a:t>, 2015) (</a:t>
            </a:r>
            <a:r>
              <a:rPr lang="en-US" sz="2800" b="1" i="0" dirty="0" err="1" smtClean="0">
                <a:solidFill>
                  <a:srgbClr val="000000"/>
                </a:solidFill>
                <a:effectLst/>
                <a:latin typeface="Times New Roman" panose="02020603050405020304" pitchFamily="18" charset="0"/>
                <a:cs typeface="Times New Roman" panose="02020603050405020304" pitchFamily="18" charset="0"/>
              </a:rPr>
              <a:t>eg</a:t>
            </a:r>
            <a:r>
              <a:rPr lang="en-US" sz="2800" b="1" i="0" dirty="0" smtClean="0">
                <a:solidFill>
                  <a:srgbClr val="000000"/>
                </a:solidFill>
                <a:effectLst/>
                <a:latin typeface="Times New Roman" panose="02020603050405020304" pitchFamily="18" charset="0"/>
                <a:cs typeface="Times New Roman" panose="02020603050405020304" pitchFamily="18" charset="0"/>
              </a:rPr>
              <a:t>. </a:t>
            </a:r>
            <a:r>
              <a:rPr lang="en-US" sz="2800" b="1" i="0" dirty="0" err="1" smtClean="0">
                <a:solidFill>
                  <a:srgbClr val="000000"/>
                </a:solidFill>
                <a:effectLst/>
                <a:latin typeface="Times New Roman" panose="02020603050405020304" pitchFamily="18" charset="0"/>
                <a:cs typeface="Times New Roman" panose="02020603050405020304" pitchFamily="18" charset="0"/>
              </a:rPr>
              <a:t>Gara</a:t>
            </a:r>
            <a:r>
              <a:rPr lang="en-US" sz="2800" b="1" i="0" dirty="0" smtClean="0">
                <a:solidFill>
                  <a:srgbClr val="000000"/>
                </a:solidFill>
                <a:effectLst/>
                <a:latin typeface="Times New Roman" panose="02020603050405020304" pitchFamily="18" charset="0"/>
                <a:cs typeface="Times New Roman" panose="02020603050405020304" pitchFamily="18" charset="0"/>
              </a:rPr>
              <a:t> (went)= C0V0C1V0).</a:t>
            </a:r>
          </a:p>
          <a:p>
            <a:pPr algn="just">
              <a:lnSpc>
                <a:spcPct val="200000"/>
              </a:lnSpc>
            </a:pPr>
            <a:r>
              <a:rPr lang="en-US" sz="2800" b="1" i="0" dirty="0" smtClean="0">
                <a:solidFill>
                  <a:srgbClr val="000000"/>
                </a:solidFill>
                <a:effectLst/>
                <a:latin typeface="Times New Roman" panose="02020603050405020304" pitchFamily="18" charset="0"/>
                <a:cs typeface="Times New Roman" panose="02020603050405020304" pitchFamily="18" charset="0"/>
              </a:rPr>
              <a:t>Python, </a:t>
            </a:r>
            <a:r>
              <a:rPr lang="en-US" sz="2800" b="1" i="0" dirty="0" err="1" smtClean="0">
                <a:solidFill>
                  <a:srgbClr val="000000"/>
                </a:solidFill>
                <a:effectLst/>
                <a:latin typeface="Times New Roman" panose="02020603050405020304" pitchFamily="18" charset="0"/>
                <a:cs typeface="Times New Roman" panose="02020603050405020304" pitchFamily="18" charset="0"/>
              </a:rPr>
              <a:t>Zotero</a:t>
            </a:r>
            <a:r>
              <a:rPr lang="en-US" sz="2800" b="1" i="0" dirty="0" smtClean="0">
                <a:solidFill>
                  <a:srgbClr val="000000"/>
                </a:solidFill>
                <a:effectLst/>
                <a:latin typeface="Times New Roman" panose="02020603050405020304" pitchFamily="18" charset="0"/>
                <a:cs typeface="Times New Roman" panose="02020603050405020304" pitchFamily="18" charset="0"/>
              </a:rPr>
              <a:t>, Google document, Microsoft word Windows 10 Pro, 2009 version, </a:t>
            </a:r>
            <a:r>
              <a:rPr lang="en-US" sz="2800" b="1" i="0" dirty="0" err="1" smtClean="0">
                <a:solidFill>
                  <a:srgbClr val="000000"/>
                </a:solidFill>
                <a:effectLst/>
                <a:latin typeface="Times New Roman" panose="02020603050405020304" pitchFamily="18" charset="0"/>
                <a:cs typeface="Times New Roman" panose="02020603050405020304" pitchFamily="18" charset="0"/>
              </a:rPr>
              <a:t>ChatGPT</a:t>
            </a:r>
            <a:r>
              <a:rPr lang="en-US" sz="2800" b="1" i="0" dirty="0" smtClean="0">
                <a:solidFill>
                  <a:srgbClr val="000000"/>
                </a:solidFill>
                <a:effectLst/>
                <a:latin typeface="Times New Roman" panose="02020603050405020304" pitchFamily="18" charset="0"/>
                <a:cs typeface="Times New Roman" panose="02020603050405020304" pitchFamily="18" charset="0"/>
              </a:rPr>
              <a:t>, </a:t>
            </a:r>
            <a:r>
              <a:rPr lang="en-US" sz="2800" b="1" i="0" dirty="0" err="1" smtClean="0">
                <a:solidFill>
                  <a:srgbClr val="000000"/>
                </a:solidFill>
                <a:effectLst/>
                <a:latin typeface="Times New Roman" panose="02020603050405020304" pitchFamily="18" charset="0"/>
                <a:cs typeface="Times New Roman" panose="02020603050405020304" pitchFamily="18" charset="0"/>
              </a:rPr>
              <a:t>DeepSeek</a:t>
            </a:r>
            <a:r>
              <a:rPr lang="en-US" sz="2800" b="1" i="0" dirty="0" smtClean="0">
                <a:solidFill>
                  <a:srgbClr val="000000"/>
                </a:solidFill>
                <a:effectLst/>
                <a:latin typeface="Times New Roman" panose="02020603050405020304" pitchFamily="18" charset="0"/>
                <a:cs typeface="Times New Roman" panose="02020603050405020304" pitchFamily="18" charset="0"/>
              </a:rPr>
              <a:t> and Meta AI.</a:t>
            </a:r>
            <a:endParaRPr lang="en-US" sz="2800" b="1" i="0"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1946392"/>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68085" y="422655"/>
            <a:ext cx="9485830" cy="5755422"/>
          </a:xfrm>
          <a:prstGeom prst="rect">
            <a:avLst/>
          </a:prstGeom>
        </p:spPr>
        <p:txBody>
          <a:bodyPr wrap="square">
            <a:spAutoFit/>
          </a:bodyPr>
          <a:lstStyle/>
          <a:p>
            <a:pPr algn="just">
              <a:lnSpc>
                <a:spcPct val="200000"/>
              </a:lnSpc>
              <a:buFont typeface="Arial" panose="020B0604020202020204" pitchFamily="34" charset="0"/>
              <a:buChar char="•"/>
            </a:pPr>
            <a:r>
              <a:rPr lang="en-US" sz="2400" dirty="0" smtClean="0">
                <a:solidFill>
                  <a:srgbClr val="000000"/>
                </a:solidFill>
                <a:effectLst/>
                <a:latin typeface="Times New Roman" panose="02020603050405020304" pitchFamily="18" charset="0"/>
                <a:cs typeface="Times New Roman" panose="02020603050405020304" pitchFamily="18" charset="0"/>
              </a:rPr>
              <a:t>Expected </a:t>
            </a:r>
            <a:r>
              <a:rPr lang="en-US" sz="2400" dirty="0" smtClean="0">
                <a:solidFill>
                  <a:srgbClr val="000000"/>
                </a:solidFill>
                <a:latin typeface="Times New Roman" panose="02020603050405020304" pitchFamily="18" charset="0"/>
                <a:cs typeface="Times New Roman" panose="02020603050405020304" pitchFamily="18" charset="0"/>
              </a:rPr>
              <a:t>result</a:t>
            </a:r>
            <a:r>
              <a:rPr lang="en-US" sz="2400" dirty="0" smtClean="0">
                <a:solidFill>
                  <a:srgbClr val="000000"/>
                </a:solidFill>
                <a:effectLst/>
                <a:latin typeface="Times New Roman" panose="02020603050405020304" pitchFamily="18" charset="0"/>
                <a:cs typeface="Times New Roman" panose="02020603050405020304" pitchFamily="18" charset="0"/>
              </a:rPr>
              <a:t>: </a:t>
            </a:r>
          </a:p>
          <a:p>
            <a:pPr algn="just">
              <a:lnSpc>
                <a:spcPct val="200000"/>
              </a:lnSpc>
              <a:buFont typeface="Arial" panose="020B0604020202020204" pitchFamily="34" charset="0"/>
              <a:buChar char="•"/>
            </a:pPr>
            <a:r>
              <a:rPr lang="en-US" sz="2400" dirty="0" smtClean="0">
                <a:solidFill>
                  <a:srgbClr val="000000"/>
                </a:solidFill>
                <a:latin typeface="Times New Roman" panose="02020603050405020304" pitchFamily="18" charset="0"/>
                <a:cs typeface="Times New Roman" panose="02020603050405020304" pitchFamily="18" charset="0"/>
              </a:rPr>
              <a:t>The result is expected to show the extent WL reflects true morphological information in Igbo language: </a:t>
            </a:r>
          </a:p>
          <a:p>
            <a:pPr algn="just">
              <a:lnSpc>
                <a:spcPct val="200000"/>
              </a:lnSpc>
              <a:buFont typeface="Arial" panose="020B0604020202020204" pitchFamily="34" charset="0"/>
              <a:buChar char="•"/>
            </a:pPr>
            <a:r>
              <a:rPr lang="en-US" sz="2400" dirty="0" smtClean="0">
                <a:solidFill>
                  <a:srgbClr val="000000"/>
                </a:solidFill>
                <a:effectLst/>
                <a:latin typeface="Times New Roman" panose="02020603050405020304" pitchFamily="18" charset="0"/>
                <a:cs typeface="Times New Roman" panose="02020603050405020304" pitchFamily="18" charset="0"/>
              </a:rPr>
              <a:t>The</a:t>
            </a:r>
            <a:r>
              <a:rPr lang="en-US" sz="2400" dirty="0" smtClean="0">
                <a:effectLst/>
                <a:latin typeface="Times New Roman" panose="02020603050405020304" pitchFamily="18" charset="0"/>
                <a:cs typeface="Times New Roman" panose="02020603050405020304" pitchFamily="18" charset="0"/>
              </a:rPr>
              <a:t> number of free and bound morphemes in a given word label </a:t>
            </a:r>
          </a:p>
          <a:p>
            <a:pPr algn="just">
              <a:lnSpc>
                <a:spcPct val="200000"/>
              </a:lnSpc>
              <a:buFont typeface="Arial" panose="020B0604020202020204" pitchFamily="34" charset="0"/>
              <a:buChar char="•"/>
            </a:pPr>
            <a:r>
              <a:rPr lang="en-US" sz="2400" dirty="0" smtClean="0">
                <a:effectLst/>
                <a:latin typeface="Times New Roman" panose="02020603050405020304" pitchFamily="18" charset="0"/>
                <a:cs typeface="Times New Roman" panose="02020603050405020304" pitchFamily="18" charset="0"/>
              </a:rPr>
              <a:t>The number of parts of speech in a given word label.</a:t>
            </a:r>
          </a:p>
          <a:p>
            <a:pPr algn="just">
              <a:lnSpc>
                <a:spcPct val="200000"/>
              </a:lnSpc>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The p</a:t>
            </a:r>
            <a:r>
              <a:rPr lang="en-US" sz="2400" dirty="0" smtClean="0">
                <a:effectLst/>
                <a:latin typeface="Times New Roman" panose="02020603050405020304" pitchFamily="18" charset="0"/>
                <a:cs typeface="Times New Roman" panose="02020603050405020304" pitchFamily="18" charset="0"/>
              </a:rPr>
              <a:t>ercentage accuracy of word label in modeling morpheme boundaries.</a:t>
            </a:r>
          </a:p>
          <a:p>
            <a:pPr algn="just"/>
            <a:r>
              <a:rPr lang="en-US" sz="4000" dirty="0" smtClean="0">
                <a:effectLst/>
                <a:latin typeface="Times New Roman" panose="02020603050405020304" pitchFamily="18" charset="0"/>
                <a:cs typeface="Times New Roman" panose="02020603050405020304" pitchFamily="18" charset="0"/>
              </a:rPr>
              <a:t/>
            </a:r>
            <a:br>
              <a:rPr lang="en-US" sz="4000" dirty="0" smtClean="0">
                <a:effectLst/>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9858682"/>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28798" y="307649"/>
            <a:ext cx="9545653" cy="5802593"/>
          </a:xfrm>
        </p:spPr>
        <p:txBody>
          <a:bodyPr>
            <a:normAutofit fontScale="90000"/>
          </a:bodyPr>
          <a:lstStyle/>
          <a:p>
            <a:pPr algn="just">
              <a:lnSpc>
                <a:spcPct val="200000"/>
              </a:lnSpc>
            </a:pPr>
            <a:r>
              <a:rPr lang="en-US" sz="2800" b="1" dirty="0" smtClean="0">
                <a:latin typeface="Times New Roman" panose="02020603050405020304" pitchFamily="18" charset="0"/>
                <a:cs typeface="Times New Roman" panose="02020603050405020304" pitchFamily="18" charset="0"/>
              </a:rPr>
              <a:t>Conclusion: </a:t>
            </a:r>
            <a:br>
              <a:rPr lang="en-US" sz="2800" b="1" dirty="0" smtClean="0">
                <a:latin typeface="Times New Roman" panose="02020603050405020304" pitchFamily="18" charset="0"/>
                <a:cs typeface="Times New Roman" panose="02020603050405020304" pitchFamily="18" charset="0"/>
              </a:rPr>
            </a:br>
            <a:r>
              <a:rPr lang="en-US" sz="2800" b="1" dirty="0" smtClean="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research </a:t>
            </a:r>
            <a:r>
              <a:rPr lang="en-US" sz="2800" b="1" dirty="0" smtClean="0">
                <a:latin typeface="Times New Roman" panose="02020603050405020304" pitchFamily="18" charset="0"/>
                <a:cs typeface="Times New Roman" panose="02020603050405020304" pitchFamily="18" charset="0"/>
              </a:rPr>
              <a:t>shows </a:t>
            </a:r>
            <a:r>
              <a:rPr lang="en-US" sz="2800" b="1" dirty="0">
                <a:latin typeface="Times New Roman" panose="02020603050405020304" pitchFamily="18" charset="0"/>
                <a:cs typeface="Times New Roman" panose="02020603050405020304" pitchFamily="18" charset="0"/>
              </a:rPr>
              <a:t>the </a:t>
            </a:r>
            <a:r>
              <a:rPr lang="en-US" sz="2800" b="1" dirty="0" smtClean="0">
                <a:latin typeface="Times New Roman" panose="02020603050405020304" pitchFamily="18" charset="0"/>
                <a:cs typeface="Times New Roman" panose="02020603050405020304" pitchFamily="18" charset="0"/>
              </a:rPr>
              <a:t>extent </a:t>
            </a:r>
            <a:r>
              <a:rPr lang="en-US" sz="2800" b="1" dirty="0">
                <a:latin typeface="Times New Roman" panose="02020603050405020304" pitchFamily="18" charset="0"/>
                <a:cs typeface="Times New Roman" panose="02020603050405020304" pitchFamily="18" charset="0"/>
              </a:rPr>
              <a:t>one can </a:t>
            </a:r>
            <a:r>
              <a:rPr lang="en-US" sz="2800" b="1" dirty="0" smtClean="0">
                <a:latin typeface="Times New Roman" panose="02020603050405020304" pitchFamily="18" charset="0"/>
                <a:cs typeface="Times New Roman" panose="02020603050405020304" pitchFamily="18" charset="0"/>
              </a:rPr>
              <a:t>trust </a:t>
            </a:r>
            <a:r>
              <a:rPr lang="en-US" sz="2800" b="1" dirty="0">
                <a:latin typeface="Times New Roman" panose="02020603050405020304" pitchFamily="18" charset="0"/>
                <a:cs typeface="Times New Roman" panose="02020603050405020304" pitchFamily="18" charset="0"/>
              </a:rPr>
              <a:t>WL approach in the morphological induction of morpheme </a:t>
            </a:r>
            <a:r>
              <a:rPr lang="en-US" sz="2800" b="1" dirty="0" smtClean="0">
                <a:latin typeface="Times New Roman" panose="02020603050405020304" pitchFamily="18" charset="0"/>
                <a:cs typeface="Times New Roman" panose="02020603050405020304" pitchFamily="18" charset="0"/>
              </a:rPr>
              <a:t>boundaries, the distributions of types </a:t>
            </a:r>
            <a:r>
              <a:rPr lang="en-US" sz="2800" b="1" dirty="0">
                <a:latin typeface="Times New Roman" panose="02020603050405020304" pitchFamily="18" charset="0"/>
                <a:cs typeface="Times New Roman" panose="02020603050405020304" pitchFamily="18" charset="0"/>
              </a:rPr>
              <a:t>of morpheme and </a:t>
            </a:r>
            <a:r>
              <a:rPr lang="en-US" sz="2800" b="1" dirty="0" smtClean="0">
                <a:latin typeface="Times New Roman" panose="02020603050405020304" pitchFamily="18" charset="0"/>
                <a:cs typeface="Times New Roman" panose="02020603050405020304" pitchFamily="18" charset="0"/>
              </a:rPr>
              <a:t>POS under word labels in </a:t>
            </a:r>
            <a:r>
              <a:rPr lang="en-US" sz="2800" b="1" dirty="0">
                <a:latin typeface="Times New Roman" panose="02020603050405020304" pitchFamily="18" charset="0"/>
                <a:cs typeface="Times New Roman" panose="02020603050405020304" pitchFamily="18" charset="0"/>
              </a:rPr>
              <a:t>Igbo language.</a:t>
            </a:r>
            <a:r>
              <a:rPr lang="en-US" sz="3200" b="1" dirty="0">
                <a:latin typeface="Times New Roman" panose="02020603050405020304" pitchFamily="18" charset="0"/>
                <a:cs typeface="Times New Roman" panose="02020603050405020304" pitchFamily="18" charset="0"/>
              </a:rPr>
              <a:t> </a:t>
            </a:r>
            <a:r>
              <a:rPr lang="en-US" sz="4400" b="1" dirty="0"/>
              <a:t/>
            </a:r>
            <a:br>
              <a:rPr lang="en-US" sz="4400" b="1" dirty="0"/>
            </a:br>
            <a:endParaRPr lang="en-US" sz="4400" dirty="0"/>
          </a:p>
        </p:txBody>
      </p:sp>
    </p:spTree>
    <p:extLst>
      <p:ext uri="{BB962C8B-B14F-4D97-AF65-F5344CB8AC3E}">
        <p14:creationId xmlns:p14="http://schemas.microsoft.com/office/powerpoint/2010/main" val="2533159278"/>
      </p:ext>
    </p:extLst>
  </p:cSld>
  <p:clrMapOvr>
    <a:masterClrMapping/>
  </p:clrMapOvr>
  <mc:AlternateContent xmlns:mc="http://schemas.openxmlformats.org/markup-compatibility/2006" xmlns:p14="http://schemas.microsoft.com/office/powerpoint/2010/main">
    <mc:Choice Requires="p14">
      <p:transition spd="slow" advTm="1000">
        <p14:flash/>
      </p:transition>
    </mc:Choice>
    <mc:Fallback xmlns="">
      <p:transition spd="slow" advTm="1000">
        <p:fade/>
      </p:transition>
    </mc:Fallback>
  </mc:AlternateContent>
  <p:timing>
    <p:tnLst>
      <p:par>
        <p:cTn id="1" dur="indefinite" restart="never" nodeType="tmRoot"/>
      </p:par>
    </p:tnLst>
  </p:timing>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2951</TotalTime>
  <Words>1070</Words>
  <Application>Microsoft Office PowerPoint</Application>
  <PresentationFormat>Widescreen</PresentationFormat>
  <Paragraphs>95</Paragraphs>
  <Slides>28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Calibri</vt:lpstr>
      <vt:lpstr>Century Gothic</vt:lpstr>
      <vt:lpstr>Times New Roman</vt:lpstr>
      <vt:lpstr>Wingdings 3</vt:lpstr>
      <vt:lpstr>Wisp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The research shows the extent one can trust WL approach in the morphological induction of morpheme boundaries, the distributions of types of morpheme and POS under word labels in Igbo language.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DELL</cp:lastModifiedBy>
  <cp:revision>62</cp:revision>
  <dcterms:created xsi:type="dcterms:W3CDTF">2025-07-18T12:08:58Z</dcterms:created>
  <dcterms:modified xsi:type="dcterms:W3CDTF">2026-06-11T20:00:38Z</dcterms:modified>
</cp:coreProperties>
</file>